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p:sldMasterIdLst>
    <p:sldMasterId id="2147483648" r:id="rId1"/>
  </p:sldMasterIdLst>
  <p:notesMasterIdLst>
    <p:notesMasterId r:id="rId13"/>
  </p:notesMasterIdLst>
  <p:handoutMasterIdLst>
    <p:handoutMasterId r:id="rId14"/>
  </p:handoutMasterIdLst>
  <p:sldIdLst>
    <p:sldId id="500" r:id="rId2"/>
    <p:sldId id="839" r:id="rId3"/>
    <p:sldId id="844" r:id="rId4"/>
    <p:sldId id="851" r:id="rId5"/>
    <p:sldId id="850" r:id="rId6"/>
    <p:sldId id="846" r:id="rId7"/>
    <p:sldId id="852" r:id="rId8"/>
    <p:sldId id="853" r:id="rId9"/>
    <p:sldId id="845" r:id="rId10"/>
    <p:sldId id="842" r:id="rId11"/>
    <p:sldId id="843" r:id="rId12"/>
  </p:sldIdLst>
  <p:sldSz cx="9144000" cy="6858000" type="screen4x3"/>
  <p:notesSz cx="6997700" cy="9283700"/>
  <p:defaultTextStyle>
    <a:defPPr>
      <a:defRPr lang="en-US"/>
    </a:defPPr>
    <a:lvl1pPr algn="l" rtl="0" eaLnBrk="0" fontAlgn="base" hangingPunct="0">
      <a:spcBef>
        <a:spcPct val="0"/>
      </a:spcBef>
      <a:spcAft>
        <a:spcPct val="0"/>
      </a:spcAft>
      <a:defRPr kern="1200">
        <a:solidFill>
          <a:schemeClr val="tx1"/>
        </a:solidFill>
        <a:latin typeface="Times New Roman" panose="02020603050405020304" pitchFamily="18" charset="0"/>
        <a:ea typeface="+mn-ea"/>
        <a:cs typeface="+mn-cs"/>
      </a:defRPr>
    </a:lvl1pPr>
    <a:lvl2pPr marL="457200" algn="l" rtl="0" eaLnBrk="0" fontAlgn="base" hangingPunct="0">
      <a:spcBef>
        <a:spcPct val="0"/>
      </a:spcBef>
      <a:spcAft>
        <a:spcPct val="0"/>
      </a:spcAft>
      <a:defRPr kern="1200">
        <a:solidFill>
          <a:schemeClr val="tx1"/>
        </a:solidFill>
        <a:latin typeface="Times New Roman" panose="02020603050405020304" pitchFamily="18" charset="0"/>
        <a:ea typeface="+mn-ea"/>
        <a:cs typeface="+mn-cs"/>
      </a:defRPr>
    </a:lvl2pPr>
    <a:lvl3pPr marL="914400" algn="l" rtl="0" eaLnBrk="0" fontAlgn="base" hangingPunct="0">
      <a:spcBef>
        <a:spcPct val="0"/>
      </a:spcBef>
      <a:spcAft>
        <a:spcPct val="0"/>
      </a:spcAft>
      <a:defRPr kern="1200">
        <a:solidFill>
          <a:schemeClr val="tx1"/>
        </a:solidFill>
        <a:latin typeface="Times New Roman" panose="02020603050405020304" pitchFamily="18" charset="0"/>
        <a:ea typeface="+mn-ea"/>
        <a:cs typeface="+mn-cs"/>
      </a:defRPr>
    </a:lvl3pPr>
    <a:lvl4pPr marL="1371600" algn="l" rtl="0" eaLnBrk="0" fontAlgn="base" hangingPunct="0">
      <a:spcBef>
        <a:spcPct val="0"/>
      </a:spcBef>
      <a:spcAft>
        <a:spcPct val="0"/>
      </a:spcAft>
      <a:defRPr kern="1200">
        <a:solidFill>
          <a:schemeClr val="tx1"/>
        </a:solidFill>
        <a:latin typeface="Times New Roman" panose="02020603050405020304" pitchFamily="18" charset="0"/>
        <a:ea typeface="+mn-ea"/>
        <a:cs typeface="+mn-cs"/>
      </a:defRPr>
    </a:lvl4pPr>
    <a:lvl5pPr marL="1828800" algn="l" rtl="0" eaLnBrk="0" fontAlgn="base" hangingPunct="0">
      <a:spcBef>
        <a:spcPct val="0"/>
      </a:spcBef>
      <a:spcAft>
        <a:spcPct val="0"/>
      </a:spcAft>
      <a:defRPr kern="1200">
        <a:solidFill>
          <a:schemeClr val="tx1"/>
        </a:solidFill>
        <a:latin typeface="Times New Roman" panose="02020603050405020304" pitchFamily="18" charset="0"/>
        <a:ea typeface="+mn-ea"/>
        <a:cs typeface="+mn-cs"/>
      </a:defRPr>
    </a:lvl5pPr>
    <a:lvl6pPr marL="2286000" algn="l" defTabSz="914400" rtl="0" eaLnBrk="1" latinLnBrk="0" hangingPunct="1">
      <a:defRPr kern="1200">
        <a:solidFill>
          <a:schemeClr val="tx1"/>
        </a:solidFill>
        <a:latin typeface="Times New Roman" panose="02020603050405020304" pitchFamily="18" charset="0"/>
        <a:ea typeface="+mn-ea"/>
        <a:cs typeface="+mn-cs"/>
      </a:defRPr>
    </a:lvl6pPr>
    <a:lvl7pPr marL="2743200" algn="l" defTabSz="914400" rtl="0" eaLnBrk="1" latinLnBrk="0" hangingPunct="1">
      <a:defRPr kern="1200">
        <a:solidFill>
          <a:schemeClr val="tx1"/>
        </a:solidFill>
        <a:latin typeface="Times New Roman" panose="02020603050405020304" pitchFamily="18" charset="0"/>
        <a:ea typeface="+mn-ea"/>
        <a:cs typeface="+mn-cs"/>
      </a:defRPr>
    </a:lvl7pPr>
    <a:lvl8pPr marL="3200400" algn="l" defTabSz="914400" rtl="0" eaLnBrk="1" latinLnBrk="0" hangingPunct="1">
      <a:defRPr kern="1200">
        <a:solidFill>
          <a:schemeClr val="tx1"/>
        </a:solidFill>
        <a:latin typeface="Times New Roman" panose="02020603050405020304" pitchFamily="18" charset="0"/>
        <a:ea typeface="+mn-ea"/>
        <a:cs typeface="+mn-cs"/>
      </a:defRPr>
    </a:lvl8pPr>
    <a:lvl9pPr marL="3657600" algn="l" defTabSz="914400" rtl="0" eaLnBrk="1" latinLnBrk="0" hangingPunct="1">
      <a:defRPr kern="1200">
        <a:solidFill>
          <a:schemeClr val="tx1"/>
        </a:solidFill>
        <a:latin typeface="Times New Roman" panose="02020603050405020304" pitchFamily="18" charset="0"/>
        <a:ea typeface="+mn-ea"/>
        <a:cs typeface="+mn-cs"/>
      </a:defRPr>
    </a:lvl9pPr>
  </p:defaultTextStyle>
  <p:extLst>
    <p:ext uri="{EFAFB233-063F-42B5-8137-9DF3F51BA10A}">
      <p15:sldGuideLst xmlns:p15="http://schemas.microsoft.com/office/powerpoint/2012/main">
        <p15:guide id="1" orient="horz" pos="554" userDrawn="1">
          <p15:clr>
            <a:srgbClr val="A4A3A4"/>
          </p15:clr>
        </p15:guide>
        <p15:guide id="2" pos="2808" userDrawn="1">
          <p15:clr>
            <a:srgbClr val="A4A3A4"/>
          </p15:clr>
        </p15:guide>
      </p15:sldGuideLst>
    </p:ext>
    <p:ext uri="{2D200454-40CA-4A62-9FC3-DE9A4176ACB9}">
      <p15:notesGuideLst xmlns:p15="http://schemas.microsoft.com/office/powerpoint/2012/main">
        <p15:guide id="1" orient="horz" pos="2924">
          <p15:clr>
            <a:srgbClr val="A4A3A4"/>
          </p15:clr>
        </p15:guide>
        <p15:guide id="2" pos="214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5652" autoAdjust="0"/>
    <p:restoredTop sz="61093" autoAdjust="0"/>
  </p:normalViewPr>
  <p:slideViewPr>
    <p:cSldViewPr showGuides="1">
      <p:cViewPr varScale="1">
        <p:scale>
          <a:sx n="51" d="100"/>
          <a:sy n="51" d="100"/>
        </p:scale>
        <p:origin x="1338" y="60"/>
      </p:cViewPr>
      <p:guideLst>
        <p:guide orient="horz" pos="554"/>
        <p:guide pos="280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474"/>
    </p:cViewPr>
  </p:sorterViewPr>
  <p:notesViewPr>
    <p:cSldViewPr>
      <p:cViewPr>
        <p:scale>
          <a:sx n="150" d="100"/>
          <a:sy n="150" d="100"/>
        </p:scale>
        <p:origin x="-72" y="2484"/>
      </p:cViewPr>
      <p:guideLst>
        <p:guide orient="horz" pos="2924"/>
        <p:guide pos="214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2125" cy="463550"/>
          </a:xfrm>
          <a:prstGeom prst="rect">
            <a:avLst/>
          </a:prstGeom>
        </p:spPr>
        <p:txBody>
          <a:bodyPr vert="horz" lIns="93026" tIns="46513" rIns="93026" bIns="46513" rtlCol="0"/>
          <a:lstStyle>
            <a:lvl1pPr algn="l" eaLnBrk="1" fontAlgn="auto" hangingPunct="1">
              <a:spcBef>
                <a:spcPts val="0"/>
              </a:spcBef>
              <a:spcAft>
                <a:spcPts val="0"/>
              </a:spcAft>
              <a:defRPr sz="1200">
                <a:latin typeface="+mn-lt"/>
              </a:defRPr>
            </a:lvl1pPr>
          </a:lstStyle>
          <a:p>
            <a:pPr>
              <a:defRPr/>
            </a:pPr>
            <a:endParaRPr lang="it-IT"/>
          </a:p>
        </p:txBody>
      </p:sp>
      <p:sp>
        <p:nvSpPr>
          <p:cNvPr id="3" name="Date Placeholder 2"/>
          <p:cNvSpPr>
            <a:spLocks noGrp="1"/>
          </p:cNvSpPr>
          <p:nvPr>
            <p:ph type="dt" sz="quarter" idx="1"/>
          </p:nvPr>
        </p:nvSpPr>
        <p:spPr>
          <a:xfrm>
            <a:off x="3963988" y="0"/>
            <a:ext cx="3032125" cy="463550"/>
          </a:xfrm>
          <a:prstGeom prst="rect">
            <a:avLst/>
          </a:prstGeom>
        </p:spPr>
        <p:txBody>
          <a:bodyPr vert="horz" lIns="93026" tIns="46513" rIns="93026" bIns="46513" rtlCol="0"/>
          <a:lstStyle>
            <a:lvl1pPr algn="r" eaLnBrk="1" fontAlgn="auto" hangingPunct="1">
              <a:spcBef>
                <a:spcPts val="0"/>
              </a:spcBef>
              <a:spcAft>
                <a:spcPts val="0"/>
              </a:spcAft>
              <a:defRPr sz="1200">
                <a:latin typeface="+mn-lt"/>
              </a:defRPr>
            </a:lvl1pPr>
          </a:lstStyle>
          <a:p>
            <a:pPr>
              <a:defRPr/>
            </a:pPr>
            <a:fld id="{3F3B64D1-AAD5-A140-80D0-6BB9E0483844}" type="datetimeFigureOut">
              <a:rPr lang="it-IT"/>
              <a:t>16/12/2024</a:t>
            </a:fld>
            <a:endParaRPr lang="it-IT"/>
          </a:p>
        </p:txBody>
      </p:sp>
      <p:sp>
        <p:nvSpPr>
          <p:cNvPr id="4" name="Footer Placeholder 3"/>
          <p:cNvSpPr>
            <a:spLocks noGrp="1"/>
          </p:cNvSpPr>
          <p:nvPr>
            <p:ph type="ftr" sz="quarter" idx="2"/>
          </p:nvPr>
        </p:nvSpPr>
        <p:spPr>
          <a:xfrm>
            <a:off x="0" y="8818563"/>
            <a:ext cx="3032125" cy="463550"/>
          </a:xfrm>
          <a:prstGeom prst="rect">
            <a:avLst/>
          </a:prstGeom>
        </p:spPr>
        <p:txBody>
          <a:bodyPr vert="horz" lIns="93026" tIns="46513" rIns="93026" bIns="46513" rtlCol="0" anchor="b"/>
          <a:lstStyle>
            <a:lvl1pPr algn="l" eaLnBrk="1" fontAlgn="auto" hangingPunct="1">
              <a:spcBef>
                <a:spcPts val="0"/>
              </a:spcBef>
              <a:spcAft>
                <a:spcPts val="0"/>
              </a:spcAft>
              <a:defRPr sz="1200">
                <a:latin typeface="+mn-lt"/>
              </a:defRPr>
            </a:lvl1pPr>
          </a:lstStyle>
          <a:p>
            <a:pPr>
              <a:defRPr/>
            </a:pPr>
            <a:endParaRPr lang="it-IT"/>
          </a:p>
        </p:txBody>
      </p:sp>
      <p:sp>
        <p:nvSpPr>
          <p:cNvPr id="5" name="Slide Number Placeholder 4"/>
          <p:cNvSpPr>
            <a:spLocks noGrp="1"/>
          </p:cNvSpPr>
          <p:nvPr>
            <p:ph type="sldNum" sz="quarter" idx="3"/>
          </p:nvPr>
        </p:nvSpPr>
        <p:spPr>
          <a:xfrm>
            <a:off x="3963988" y="8818563"/>
            <a:ext cx="3032125" cy="463550"/>
          </a:xfrm>
          <a:prstGeom prst="rect">
            <a:avLst/>
          </a:prstGeom>
        </p:spPr>
        <p:txBody>
          <a:bodyPr vert="horz" lIns="93026" tIns="46513" rIns="93026" bIns="46513" rtlCol="0" anchor="b"/>
          <a:lstStyle>
            <a:lvl1pPr algn="r" eaLnBrk="1" fontAlgn="auto" hangingPunct="1">
              <a:spcBef>
                <a:spcPts val="0"/>
              </a:spcBef>
              <a:spcAft>
                <a:spcPts val="0"/>
              </a:spcAft>
              <a:defRPr sz="1200">
                <a:latin typeface="+mn-lt"/>
              </a:defRPr>
            </a:lvl1pPr>
          </a:lstStyle>
          <a:p>
            <a:pPr>
              <a:defRPr/>
            </a:pPr>
            <a:fld id="{DD3847EC-CB7F-7D45-8DD9-6177710C3A82}" type="slidenum">
              <a:rPr lang="it-IT"/>
              <a:t>‹#›</a:t>
            </a:fld>
            <a:endParaRPr lang="it-IT"/>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2125" cy="463550"/>
          </a:xfrm>
          <a:prstGeom prst="rect">
            <a:avLst/>
          </a:prstGeom>
        </p:spPr>
        <p:txBody>
          <a:bodyPr vert="horz" lIns="93026" tIns="46513" rIns="93026" bIns="46513" rtlCol="0"/>
          <a:lstStyle>
            <a:lvl1pPr algn="l" eaLnBrk="1" fontAlgn="auto" hangingPunct="1">
              <a:spcBef>
                <a:spcPts val="0"/>
              </a:spcBef>
              <a:spcAft>
                <a:spcPts val="0"/>
              </a:spcAft>
              <a:defRPr sz="1200">
                <a:latin typeface="+mn-lt"/>
              </a:defRPr>
            </a:lvl1pPr>
          </a:lstStyle>
          <a:p>
            <a:pPr>
              <a:defRPr/>
            </a:pPr>
            <a:endParaRPr lang="it-IT"/>
          </a:p>
        </p:txBody>
      </p:sp>
      <p:sp>
        <p:nvSpPr>
          <p:cNvPr id="3" name="Date Placeholder 2"/>
          <p:cNvSpPr>
            <a:spLocks noGrp="1"/>
          </p:cNvSpPr>
          <p:nvPr>
            <p:ph type="dt" idx="1"/>
          </p:nvPr>
        </p:nvSpPr>
        <p:spPr>
          <a:xfrm>
            <a:off x="3963988" y="0"/>
            <a:ext cx="3032125" cy="463550"/>
          </a:xfrm>
          <a:prstGeom prst="rect">
            <a:avLst/>
          </a:prstGeom>
        </p:spPr>
        <p:txBody>
          <a:bodyPr vert="horz" lIns="93026" tIns="46513" rIns="93026" bIns="46513" rtlCol="0"/>
          <a:lstStyle>
            <a:lvl1pPr algn="r" eaLnBrk="1" fontAlgn="auto" hangingPunct="1">
              <a:spcBef>
                <a:spcPts val="0"/>
              </a:spcBef>
              <a:spcAft>
                <a:spcPts val="0"/>
              </a:spcAft>
              <a:defRPr sz="1200">
                <a:latin typeface="+mn-lt"/>
              </a:defRPr>
            </a:lvl1pPr>
          </a:lstStyle>
          <a:p>
            <a:pPr>
              <a:defRPr/>
            </a:pPr>
            <a:fld id="{E716B90E-A14D-8B4B-A113-4F8128E40D0E}" type="datetimeFigureOut">
              <a:rPr lang="it-IT"/>
              <a:t>16/12/2024</a:t>
            </a:fld>
            <a:endParaRPr lang="it-IT"/>
          </a:p>
        </p:txBody>
      </p:sp>
      <p:sp>
        <p:nvSpPr>
          <p:cNvPr id="4" name="Slide Image Placeholder 3"/>
          <p:cNvSpPr>
            <a:spLocks noGrp="1" noRot="1" noChangeAspect="1"/>
          </p:cNvSpPr>
          <p:nvPr>
            <p:ph type="sldImg" idx="2"/>
          </p:nvPr>
        </p:nvSpPr>
        <p:spPr>
          <a:xfrm>
            <a:off x="1179513" y="696913"/>
            <a:ext cx="4638675" cy="3479800"/>
          </a:xfrm>
          <a:prstGeom prst="rect">
            <a:avLst/>
          </a:prstGeom>
          <a:noFill/>
          <a:ln w="12700">
            <a:solidFill>
              <a:prstClr val="black"/>
            </a:solidFill>
          </a:ln>
        </p:spPr>
        <p:txBody>
          <a:bodyPr vert="horz" lIns="93026" tIns="46513" rIns="93026" bIns="46513" rtlCol="0" anchor="ctr"/>
          <a:lstStyle/>
          <a:p>
            <a:pPr lvl="0"/>
            <a:endParaRPr lang="it-IT" noProof="0"/>
          </a:p>
        </p:txBody>
      </p:sp>
      <p:sp>
        <p:nvSpPr>
          <p:cNvPr id="5" name="Notes Placeholder 4"/>
          <p:cNvSpPr>
            <a:spLocks noGrp="1"/>
          </p:cNvSpPr>
          <p:nvPr>
            <p:ph type="body" sz="quarter" idx="3"/>
          </p:nvPr>
        </p:nvSpPr>
        <p:spPr>
          <a:xfrm>
            <a:off x="700088" y="4410075"/>
            <a:ext cx="5597525" cy="4176713"/>
          </a:xfrm>
          <a:prstGeom prst="rect">
            <a:avLst/>
          </a:prstGeom>
        </p:spPr>
        <p:txBody>
          <a:bodyPr vert="horz" lIns="93026" tIns="46513" rIns="93026" bIns="46513"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it-IT" noProof="0"/>
          </a:p>
        </p:txBody>
      </p:sp>
      <p:sp>
        <p:nvSpPr>
          <p:cNvPr id="6" name="Footer Placeholder 5"/>
          <p:cNvSpPr>
            <a:spLocks noGrp="1"/>
          </p:cNvSpPr>
          <p:nvPr>
            <p:ph type="ftr" sz="quarter" idx="4"/>
          </p:nvPr>
        </p:nvSpPr>
        <p:spPr>
          <a:xfrm>
            <a:off x="0" y="8818563"/>
            <a:ext cx="3032125" cy="463550"/>
          </a:xfrm>
          <a:prstGeom prst="rect">
            <a:avLst/>
          </a:prstGeom>
        </p:spPr>
        <p:txBody>
          <a:bodyPr vert="horz" lIns="93026" tIns="46513" rIns="93026" bIns="46513" rtlCol="0" anchor="b"/>
          <a:lstStyle>
            <a:lvl1pPr algn="l" eaLnBrk="1" fontAlgn="auto" hangingPunct="1">
              <a:spcBef>
                <a:spcPts val="0"/>
              </a:spcBef>
              <a:spcAft>
                <a:spcPts val="0"/>
              </a:spcAft>
              <a:defRPr sz="1200">
                <a:latin typeface="+mn-lt"/>
              </a:defRPr>
            </a:lvl1pPr>
          </a:lstStyle>
          <a:p>
            <a:pPr>
              <a:defRPr/>
            </a:pPr>
            <a:endParaRPr lang="it-IT"/>
          </a:p>
        </p:txBody>
      </p:sp>
      <p:sp>
        <p:nvSpPr>
          <p:cNvPr id="7" name="Slide Number Placeholder 6"/>
          <p:cNvSpPr>
            <a:spLocks noGrp="1"/>
          </p:cNvSpPr>
          <p:nvPr>
            <p:ph type="sldNum" sz="quarter" idx="5"/>
          </p:nvPr>
        </p:nvSpPr>
        <p:spPr>
          <a:xfrm>
            <a:off x="3963988" y="8818563"/>
            <a:ext cx="3032125" cy="463550"/>
          </a:xfrm>
          <a:prstGeom prst="rect">
            <a:avLst/>
          </a:prstGeom>
        </p:spPr>
        <p:txBody>
          <a:bodyPr vert="horz" lIns="93026" tIns="46513" rIns="93026" bIns="46513" rtlCol="0" anchor="b"/>
          <a:lstStyle>
            <a:lvl1pPr algn="r" eaLnBrk="1" fontAlgn="auto" hangingPunct="1">
              <a:spcBef>
                <a:spcPts val="0"/>
              </a:spcBef>
              <a:spcAft>
                <a:spcPts val="0"/>
              </a:spcAft>
              <a:defRPr sz="1200">
                <a:latin typeface="+mn-lt"/>
              </a:defRPr>
            </a:lvl1pPr>
          </a:lstStyle>
          <a:p>
            <a:pPr>
              <a:defRPr/>
            </a:pPr>
            <a:fld id="{42BFB311-CEB4-4042-9D98-99481829B1DD}" type="slidenum">
              <a:rPr lang="it-IT"/>
              <a:t>‹#›</a:t>
            </a:fld>
            <a:endParaRPr lang="it-IT"/>
          </a:p>
        </p:txBody>
      </p:sp>
    </p:spTree>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zhida.zhihu.com/search?content_id=245921452&amp;content_type=Article&amp;match_order=1&amp;q=%E7%82%B9%E4%BA%91%E9%85%8D%E5%87%86%E7%AE%97%E6%B3%95&amp;zhida_source=entity"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zhida.zhihu.com/search?content_id=245921452&amp;content_type=Article&amp;match_order=1&amp;q=%E5%88%9A%E4%BD%93%E5%8F%98%E6%8D%A2%E7%9F%A9%E9%98%B5&amp;zhida_source=entity" TargetMode="External"/><Relationship Id="rId4" Type="http://schemas.openxmlformats.org/officeDocument/2006/relationships/hyperlink" Target="https://zhida.zhihu.com/search?content_id=245921452&amp;content_type=Article&amp;match_order=2&amp;q=%E7%82%B9%E4%BA%91%E6%95%B0%E6%8D%AE%E9%9B%86&amp;zhida_source=entity" TargetMode="Externa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1</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2</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mj-lt"/>
              <a:buAutoNum type="arabicPeriod"/>
            </a:pPr>
            <a:r>
              <a:rPr lang="zh-CN" altLang="en-US" dirty="0"/>
              <a:t>论文提出了一个滑动窗口的连续轨迹优化方法，将 </a:t>
            </a:r>
            <a:r>
              <a:rPr lang="en-US" altLang="zh-CN" dirty="0"/>
              <a:t>LiDAR </a:t>
            </a:r>
            <a:r>
              <a:rPr lang="zh-CN" altLang="en-US" dirty="0"/>
              <a:t>数据和 </a:t>
            </a:r>
            <a:r>
              <a:rPr lang="en-US" altLang="zh-CN" dirty="0"/>
              <a:t>IMU </a:t>
            </a:r>
            <a:r>
              <a:rPr lang="zh-CN" altLang="en-US" dirty="0"/>
              <a:t>数据结合在一起： </a:t>
            </a:r>
            <a:r>
              <a:rPr lang="en-US" altLang="zh-CN" dirty="0"/>
              <a:t>LiDAR </a:t>
            </a:r>
            <a:r>
              <a:rPr lang="zh-CN" altLang="en-US" dirty="0"/>
              <a:t>提供点云对齐的几何约束。</a:t>
            </a:r>
          </a:p>
          <a:p>
            <a:pPr>
              <a:buFont typeface="+mj-lt"/>
              <a:buAutoNum type="arabicPeriod"/>
            </a:pPr>
            <a:r>
              <a:rPr lang="en-US" altLang="zh-CN" dirty="0"/>
              <a:t>IMU </a:t>
            </a:r>
            <a:r>
              <a:rPr lang="zh-CN" altLang="en-US" dirty="0"/>
              <a:t>提供运动学信息（通过预积分计算位移和姿态变化）。</a:t>
            </a:r>
          </a:p>
          <a:p>
            <a:pPr>
              <a:buFont typeface="+mj-lt"/>
              <a:buAutoNum type="arabicPeriod"/>
            </a:pPr>
            <a:r>
              <a:rPr lang="zh-CN" altLang="en-US" dirty="0"/>
              <a:t>最后，通过 </a:t>
            </a:r>
            <a:r>
              <a:rPr lang="en-US" altLang="zh-CN" dirty="0"/>
              <a:t>Levenberg–Marquardt </a:t>
            </a:r>
            <a:r>
              <a:rPr lang="zh-CN" altLang="en-US" dirty="0"/>
              <a:t>优化，将 </a:t>
            </a:r>
            <a:r>
              <a:rPr lang="en-US" altLang="zh-CN" dirty="0"/>
              <a:t>LiDAR </a:t>
            </a:r>
            <a:r>
              <a:rPr lang="zh-CN" altLang="en-US" dirty="0"/>
              <a:t>点云误差、</a:t>
            </a:r>
            <a:r>
              <a:rPr lang="en-US" altLang="zh-CN" dirty="0"/>
              <a:t>IMU </a:t>
            </a:r>
            <a:r>
              <a:rPr lang="zh-CN" altLang="en-US" dirty="0"/>
              <a:t>预积分误差以及轨迹连续性约束联合优化，得到更精确的轨迹。</a:t>
            </a:r>
          </a:p>
          <a:p>
            <a:r>
              <a:rPr lang="zh-CN" altLang="en-US" dirty="0"/>
              <a:t>这种方法在论文的实验中表现出对快速运动和动态场景的高鲁棒性。这篇论文可以作为上面目标三的参考文献，参考这篇论文去实现目标</a:t>
            </a:r>
            <a:r>
              <a:rPr lang="en-US" altLang="zh-CN" dirty="0"/>
              <a:t>3</a:t>
            </a:r>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3</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mj-lt"/>
              <a:buAutoNum type="arabicPeriod"/>
            </a:pPr>
            <a:r>
              <a:rPr lang="zh-CN" altLang="en-US" dirty="0"/>
              <a:t>论文提出了一个滑动窗口的连续轨迹优化方法，将 </a:t>
            </a:r>
            <a:r>
              <a:rPr lang="en-US" altLang="zh-CN" dirty="0"/>
              <a:t>LiDAR </a:t>
            </a:r>
            <a:r>
              <a:rPr lang="zh-CN" altLang="en-US" dirty="0"/>
              <a:t>数据和 </a:t>
            </a:r>
            <a:r>
              <a:rPr lang="en-US" altLang="zh-CN" dirty="0"/>
              <a:t>IMU </a:t>
            </a:r>
            <a:r>
              <a:rPr lang="zh-CN" altLang="en-US" dirty="0"/>
              <a:t>数据结合在一起： </a:t>
            </a:r>
            <a:r>
              <a:rPr lang="en-US" altLang="zh-CN" dirty="0"/>
              <a:t>LiDAR </a:t>
            </a:r>
            <a:r>
              <a:rPr lang="zh-CN" altLang="en-US" dirty="0"/>
              <a:t>提供点云对齐的几何约束。</a:t>
            </a:r>
          </a:p>
          <a:p>
            <a:pPr>
              <a:buFont typeface="+mj-lt"/>
              <a:buAutoNum type="arabicPeriod"/>
            </a:pPr>
            <a:r>
              <a:rPr lang="en-US" altLang="zh-CN" dirty="0"/>
              <a:t>IMU </a:t>
            </a:r>
            <a:r>
              <a:rPr lang="zh-CN" altLang="en-US" dirty="0"/>
              <a:t>提供运动学信息（通过预积分计算位移和姿态变化）。</a:t>
            </a:r>
          </a:p>
          <a:p>
            <a:pPr>
              <a:buFont typeface="+mj-lt"/>
              <a:buAutoNum type="arabicPeriod"/>
            </a:pPr>
            <a:r>
              <a:rPr lang="zh-CN" altLang="en-US" dirty="0"/>
              <a:t>最后，通过 </a:t>
            </a:r>
            <a:r>
              <a:rPr lang="en-US" altLang="zh-CN" dirty="0"/>
              <a:t>Levenberg–Marquardt </a:t>
            </a:r>
            <a:r>
              <a:rPr lang="zh-CN" altLang="en-US" dirty="0"/>
              <a:t>优化，将 </a:t>
            </a:r>
            <a:r>
              <a:rPr lang="en-US" altLang="zh-CN" dirty="0"/>
              <a:t>LiDAR </a:t>
            </a:r>
            <a:r>
              <a:rPr lang="zh-CN" altLang="en-US" dirty="0"/>
              <a:t>点云误差、</a:t>
            </a:r>
            <a:r>
              <a:rPr lang="en-US" altLang="zh-CN" dirty="0"/>
              <a:t>IMU </a:t>
            </a:r>
            <a:r>
              <a:rPr lang="zh-CN" altLang="en-US" dirty="0"/>
              <a:t>预积分误差以及轨迹连续性约束联合优化，得到更精确的轨迹。</a:t>
            </a:r>
          </a:p>
          <a:p>
            <a:r>
              <a:rPr lang="zh-CN" altLang="en-US" dirty="0"/>
              <a:t>这种方法在论文的实验中表现出对快速运动和动态场景的高鲁棒性。这篇论文可以作为上面目标三的参考文献，参考这篇论文去实现目标</a:t>
            </a:r>
            <a:r>
              <a:rPr lang="en-US" altLang="zh-CN" dirty="0"/>
              <a:t>3</a:t>
            </a:r>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4</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mj-lt"/>
              <a:buAutoNum type="arabicPeriod"/>
            </a:pPr>
            <a:r>
              <a:rPr lang="zh-CN" altLang="en-US" dirty="0"/>
              <a:t>论文提出了一个滑动窗口的连续轨迹优化方法，将 </a:t>
            </a:r>
            <a:r>
              <a:rPr lang="en-US" altLang="zh-CN" dirty="0"/>
              <a:t>LiDAR </a:t>
            </a:r>
            <a:r>
              <a:rPr lang="zh-CN" altLang="en-US" dirty="0"/>
              <a:t>数据和 </a:t>
            </a:r>
            <a:r>
              <a:rPr lang="en-US" altLang="zh-CN" dirty="0"/>
              <a:t>IMU </a:t>
            </a:r>
            <a:r>
              <a:rPr lang="zh-CN" altLang="en-US" dirty="0"/>
              <a:t>数据结合在一起： </a:t>
            </a:r>
            <a:r>
              <a:rPr lang="en-US" altLang="zh-CN" dirty="0"/>
              <a:t>LiDAR </a:t>
            </a:r>
            <a:r>
              <a:rPr lang="zh-CN" altLang="en-US" dirty="0"/>
              <a:t>提供点云对齐的几何约束。</a:t>
            </a:r>
          </a:p>
          <a:p>
            <a:pPr>
              <a:buFont typeface="+mj-lt"/>
              <a:buAutoNum type="arabicPeriod"/>
            </a:pPr>
            <a:r>
              <a:rPr lang="en-US" altLang="zh-CN" dirty="0"/>
              <a:t>IMU </a:t>
            </a:r>
            <a:r>
              <a:rPr lang="zh-CN" altLang="en-US" dirty="0"/>
              <a:t>提供运动学信息（通过预积分计算位移和姿态变化）。</a:t>
            </a:r>
          </a:p>
          <a:p>
            <a:pPr>
              <a:buFont typeface="+mj-lt"/>
              <a:buAutoNum type="arabicPeriod"/>
            </a:pPr>
            <a:r>
              <a:rPr lang="zh-CN" altLang="en-US" dirty="0"/>
              <a:t>最后，通过 </a:t>
            </a:r>
            <a:r>
              <a:rPr lang="en-US" altLang="zh-CN" dirty="0"/>
              <a:t>Levenberg–Marquardt </a:t>
            </a:r>
            <a:r>
              <a:rPr lang="zh-CN" altLang="en-US" dirty="0"/>
              <a:t>优化，将 </a:t>
            </a:r>
            <a:r>
              <a:rPr lang="en-US" altLang="zh-CN" dirty="0"/>
              <a:t>LiDAR </a:t>
            </a:r>
            <a:r>
              <a:rPr lang="zh-CN" altLang="en-US" dirty="0"/>
              <a:t>点云误差、</a:t>
            </a:r>
            <a:r>
              <a:rPr lang="en-US" altLang="zh-CN" dirty="0"/>
              <a:t>IMU </a:t>
            </a:r>
            <a:r>
              <a:rPr lang="zh-CN" altLang="en-US" dirty="0"/>
              <a:t>预积分误差以及轨迹连续性约束联合优化，得到更精确的轨迹。</a:t>
            </a:r>
          </a:p>
          <a:p>
            <a:r>
              <a:rPr lang="zh-CN" altLang="en-US" dirty="0"/>
              <a:t>这种方法在论文的实验中表现出对快速运动和动态场景的高鲁棒性。这篇论文可以作为上面目标三的参考文献，参考这篇论文去实现目标</a:t>
            </a:r>
            <a:r>
              <a:rPr lang="en-US" altLang="zh-CN" dirty="0"/>
              <a:t>3</a:t>
            </a:r>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5</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mj-lt"/>
              <a:buNone/>
            </a:pPr>
            <a:r>
              <a:rPr lang="zh-CN" altLang="en-US" dirty="0"/>
              <a:t>点云</a:t>
            </a:r>
            <a:r>
              <a:rPr lang="en-US" altLang="zh-CN" dirty="0"/>
              <a:t>ICP</a:t>
            </a:r>
            <a:r>
              <a:rPr lang="zh-CN" altLang="en-US" dirty="0"/>
              <a:t>算法是一种经典的</a:t>
            </a:r>
            <a:r>
              <a:rPr lang="zh-CN" altLang="en-US" dirty="0">
                <a:hlinkClick r:id="rId3"/>
              </a:rPr>
              <a:t>点云配准算法</a:t>
            </a:r>
            <a:r>
              <a:rPr lang="zh-CN" altLang="en-US" dirty="0"/>
              <a:t>，其全称为</a:t>
            </a:r>
            <a:r>
              <a:rPr lang="en-US" altLang="zh-CN" dirty="0"/>
              <a:t>Iterative Closest Point</a:t>
            </a:r>
            <a:r>
              <a:rPr lang="zh-CN" altLang="en-US" dirty="0"/>
              <a:t>算法，是一种迭代优化的方法，用于将两个或多个</a:t>
            </a:r>
            <a:r>
              <a:rPr lang="zh-CN" altLang="en-US" dirty="0">
                <a:hlinkClick r:id="rId4"/>
              </a:rPr>
              <a:t>点云数据集</a:t>
            </a:r>
            <a:r>
              <a:rPr lang="zh-CN" altLang="en-US" dirty="0"/>
              <a:t>对齐。该算法通过迭代找到最优的</a:t>
            </a:r>
            <a:r>
              <a:rPr lang="zh-CN" altLang="en-US" dirty="0">
                <a:hlinkClick r:id="rId5"/>
              </a:rPr>
              <a:t>刚体变换矩阵</a:t>
            </a:r>
            <a:r>
              <a:rPr lang="zh-CN" altLang="en-US" dirty="0"/>
              <a:t>，使得两个点云之间的重叠部分最大化，从而实现点云的配准。总结</a:t>
            </a:r>
            <a:r>
              <a:rPr lang="en-US" altLang="zh-CN" dirty="0"/>
              <a:t>ICP</a:t>
            </a:r>
            <a:r>
              <a:rPr lang="zh-CN" altLang="en-US" dirty="0"/>
              <a:t>算法：</a:t>
            </a:r>
          </a:p>
          <a:p>
            <a:pPr>
              <a:buFont typeface="+mj-lt"/>
              <a:buNone/>
            </a:pPr>
            <a:r>
              <a:rPr lang="en-US" altLang="zh-CN" dirty="0"/>
              <a:t>(1)</a:t>
            </a:r>
            <a:r>
              <a:rPr lang="zh-CN" altLang="en-US" dirty="0"/>
              <a:t>计算</a:t>
            </a:r>
            <a:r>
              <a:rPr lang="en-US" altLang="zh-CN" dirty="0"/>
              <a:t>{P}</a:t>
            </a:r>
            <a:r>
              <a:rPr lang="zh-CN" altLang="en-US" dirty="0"/>
              <a:t>中的每一个点在</a:t>
            </a:r>
            <a:r>
              <a:rPr lang="en-US" altLang="zh-CN" dirty="0"/>
              <a:t>{Q}</a:t>
            </a:r>
            <a:r>
              <a:rPr lang="zh-CN" altLang="en-US" dirty="0"/>
              <a:t>点集中的对应近点；</a:t>
            </a:r>
          </a:p>
          <a:p>
            <a:pPr>
              <a:buFont typeface="+mj-lt"/>
              <a:buNone/>
            </a:pPr>
            <a:r>
              <a:rPr lang="en-US" altLang="zh-CN" dirty="0"/>
              <a:t>(2)</a:t>
            </a:r>
            <a:r>
              <a:rPr lang="zh-CN" altLang="en-US" dirty="0"/>
              <a:t>求得使上述对应点对平均距离最小的刚体变换，求得平移参数和旋转参数；</a:t>
            </a:r>
          </a:p>
          <a:p>
            <a:pPr>
              <a:buFont typeface="+mj-lt"/>
              <a:buNone/>
            </a:pPr>
            <a:r>
              <a:rPr lang="en-US" altLang="zh-CN" dirty="0"/>
              <a:t>(3)</a:t>
            </a:r>
            <a:r>
              <a:rPr lang="zh-CN" altLang="en-US" dirty="0"/>
              <a:t>对</a:t>
            </a:r>
            <a:r>
              <a:rPr lang="en-US" altLang="zh-CN" dirty="0"/>
              <a:t>{P}</a:t>
            </a:r>
            <a:r>
              <a:rPr lang="zh-CN" altLang="en-US" dirty="0"/>
              <a:t>使用上一步求得的平移和旋转矩阵进行空间变换，得到新的变换点集</a:t>
            </a:r>
            <a:r>
              <a:rPr lang="en-US" altLang="zh-CN" dirty="0"/>
              <a:t>{P’}</a:t>
            </a:r>
            <a:r>
              <a:rPr lang="zh-CN" altLang="en-US" dirty="0"/>
              <a:t>；</a:t>
            </a:r>
          </a:p>
          <a:p>
            <a:pPr>
              <a:buFont typeface="+mj-lt"/>
              <a:buNone/>
            </a:pPr>
            <a:r>
              <a:rPr lang="en-US" altLang="zh-CN" dirty="0"/>
              <a:t>(4)</a:t>
            </a:r>
            <a:r>
              <a:rPr lang="zh-CN" altLang="en-US" dirty="0"/>
              <a:t>如果新的变换点集与参考点集满足两点集的平均距离小于某一给定阈值，或者迭代次数达到设定的最大值，则停止迭代计算，否则新的变换点集作为新的</a:t>
            </a:r>
            <a:r>
              <a:rPr lang="en-US" altLang="zh-CN" dirty="0"/>
              <a:t>{P}</a:t>
            </a:r>
            <a:r>
              <a:rPr lang="zh-CN" altLang="en-US" dirty="0"/>
              <a:t>继续迭代，直到达到目标函数的要求。</a:t>
            </a:r>
          </a:p>
        </p:txBody>
      </p:sp>
      <p:sp>
        <p:nvSpPr>
          <p:cNvPr id="4" name="Slide Number Placeholder 3"/>
          <p:cNvSpPr>
            <a:spLocks noGrp="1"/>
          </p:cNvSpPr>
          <p:nvPr>
            <p:ph type="sldNum" sz="quarter" idx="10"/>
          </p:nvPr>
        </p:nvSpPr>
        <p:spPr/>
        <p:txBody>
          <a:bodyPr/>
          <a:lstStyle/>
          <a:p>
            <a:fld id="{0631DD7B-2EBD-466F-B277-0EDC35A7E7C2}" type="slidenum">
              <a:rPr lang="it-IT" smtClean="0"/>
              <a:t>6</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a:buFont typeface="+mj-lt"/>
              <a:buNone/>
            </a:pPr>
            <a:r>
              <a:rPr lang="en-US" altLang="zh-CN" dirty="0" err="1"/>
              <a:t>NeRF</a:t>
            </a:r>
            <a:r>
              <a:rPr lang="en-US" altLang="zh-CN" dirty="0"/>
              <a:t> </a:t>
            </a:r>
            <a:r>
              <a:rPr lang="zh-CN" altLang="en-US" dirty="0"/>
              <a:t>所做的任务是 </a:t>
            </a:r>
            <a:r>
              <a:rPr lang="en-US" altLang="zh-CN" dirty="0"/>
              <a:t>Novel View Synthesis</a:t>
            </a:r>
            <a:r>
              <a:rPr lang="zh-CN" altLang="en-US" dirty="0"/>
              <a:t>（新视角合成），即在若干已知视角下对场景进行一系列的观测（相机内外参、图像、</a:t>
            </a:r>
            <a:r>
              <a:rPr lang="en-US" altLang="zh-CN" dirty="0"/>
              <a:t>Pose </a:t>
            </a:r>
            <a:r>
              <a:rPr lang="zh-CN" altLang="en-US" dirty="0"/>
              <a:t>等），合成任意新视角下的图像。传统方法中，通常这一任务采用三维重建再渲染的方式实现，</a:t>
            </a:r>
            <a:r>
              <a:rPr lang="en-US" altLang="zh-CN" dirty="0" err="1"/>
              <a:t>NeRF</a:t>
            </a:r>
            <a:r>
              <a:rPr lang="en-US" altLang="zh-CN" dirty="0"/>
              <a:t> </a:t>
            </a:r>
            <a:r>
              <a:rPr lang="zh-CN" altLang="en-US" dirty="0"/>
              <a:t>希望不进行显式的三维重建过程，仅根据内外参直接得到新视角渲染的图像。为了实现这一目的，</a:t>
            </a:r>
            <a:r>
              <a:rPr lang="en-US" altLang="zh-CN" dirty="0" err="1"/>
              <a:t>NeRF</a:t>
            </a:r>
            <a:r>
              <a:rPr lang="en-US" altLang="zh-CN" dirty="0"/>
              <a:t> </a:t>
            </a:r>
            <a:r>
              <a:rPr lang="zh-CN" altLang="en-US" dirty="0"/>
              <a:t>使用用神经网络作为一个 </a:t>
            </a:r>
            <a:r>
              <a:rPr lang="en-US" altLang="zh-CN" dirty="0"/>
              <a:t>3D </a:t>
            </a:r>
            <a:r>
              <a:rPr lang="zh-CN" altLang="en-US" dirty="0"/>
              <a:t>场景的隐式表达，代替传统的点云、网格、体素、</a:t>
            </a:r>
            <a:r>
              <a:rPr lang="en-US" altLang="zh-CN" dirty="0"/>
              <a:t>TSDF </a:t>
            </a:r>
            <a:r>
              <a:rPr lang="zh-CN" altLang="en-US" dirty="0"/>
              <a:t>等方式，通过这样的网络可以直接渲染任意角度任意位置的投影图像。</a:t>
            </a:r>
          </a:p>
        </p:txBody>
      </p:sp>
      <p:sp>
        <p:nvSpPr>
          <p:cNvPr id="4" name="Slide Number Placeholder 3"/>
          <p:cNvSpPr>
            <a:spLocks noGrp="1"/>
          </p:cNvSpPr>
          <p:nvPr>
            <p:ph type="sldNum" sz="quarter" idx="10"/>
          </p:nvPr>
        </p:nvSpPr>
        <p:spPr/>
        <p:txBody>
          <a:bodyPr/>
          <a:lstStyle/>
          <a:p>
            <a:fld id="{0631DD7B-2EBD-466F-B277-0EDC35A7E7C2}" type="slidenum">
              <a:rPr lang="it-IT" smtClean="0"/>
              <a:t>7</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altLang="zh-CN" sz="1200" dirty="0"/>
              <a:t>SLAM</a:t>
            </a:r>
            <a:r>
              <a:rPr lang="zh-CN" altLang="en-US" sz="1200" dirty="0"/>
              <a:t>算法的经典框架包括前端数据关联和后端优化两部分，如图所示。前端依据激光雷达测得的点云数据，通过扫描匹配进行帧间配准，闭环检测以获得不同帧间点云数据的关系，不断更新位置估计，并存储相应的地图信息；后端通过维护和优化前端得到的机器人位姿和观测约束，得到所构建地图的最大似然估计与机器人当前位姿。</a:t>
            </a:r>
            <a:endParaRPr lang="en-US" altLang="zh-CN" sz="1200" dirty="0">
              <a:solidFill>
                <a:srgbClr val="222222"/>
              </a:solidFill>
              <a:latin typeface="Arial" panose="020B0604020202020204" pitchFamily="34" charset="0"/>
            </a:endParaRPr>
          </a:p>
          <a:p>
            <a:r>
              <a:rPr lang="en-US" altLang="zh-CN" dirty="0"/>
              <a:t>SLAM</a:t>
            </a:r>
            <a:r>
              <a:rPr lang="zh-CN" altLang="en-US" dirty="0"/>
              <a:t>算法的前端主要解决数据关联的问题，扫描匹配考虑局部数据关系</a:t>
            </a:r>
            <a:r>
              <a:rPr lang="en-US" altLang="zh-CN" dirty="0"/>
              <a:t>(</a:t>
            </a:r>
            <a:r>
              <a:rPr lang="en-US" altLang="zh-CN" dirty="0" err="1"/>
              <a:t>icp</a:t>
            </a:r>
            <a:r>
              <a:rPr lang="zh-CN" altLang="en-US" dirty="0"/>
              <a:t>），而闭环检测则处理全局数据关系；扫描匹配与闭环检测都是根据激光帧数据建立节点间的约束。</a:t>
            </a:r>
            <a:endParaRPr lang="en-US" altLang="zh-CN" dirty="0"/>
          </a:p>
          <a:p>
            <a:r>
              <a:rPr lang="zh-CN" altLang="en-US" dirty="0"/>
              <a:t>后端优化的目的是将各帧雷达的位姿和帧间运动约束综合起来达到整体优化，以消除局部累计误差，并根据前端提供的数据生成环境地图估计，主要有滤波和非线性优化两种思路：滤波主要采用扩展卡尔曼滤波获得最优估计，存在适应性差、缺少回环检测、更新效率慢等问题，难以在回环多、距离长的大规模环境中应用；非线性优化方案以图优化为代表，进行全局优化，把所有数据都考虑进来，虽然会增大计算量，但融合精度较高。后端优化前后对比如下图所示，如何高效地通过后端优化来修正运动位姿和提高地图精度是</a:t>
            </a:r>
            <a:r>
              <a:rPr lang="en-US" altLang="zh-CN" dirty="0"/>
              <a:t>SLAM</a:t>
            </a:r>
            <a:r>
              <a:rPr lang="zh-CN" altLang="en-US" dirty="0"/>
              <a:t>算法的研究热点。</a:t>
            </a:r>
          </a:p>
          <a:p>
            <a:pPr>
              <a:buFont typeface="+mj-lt"/>
              <a:buNone/>
            </a:pPr>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8</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9</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10</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it-IT" dirty="0"/>
          </a:p>
        </p:txBody>
      </p:sp>
      <p:sp>
        <p:nvSpPr>
          <p:cNvPr id="4" name="Slide Number Placeholder 3"/>
          <p:cNvSpPr>
            <a:spLocks noGrp="1"/>
          </p:cNvSpPr>
          <p:nvPr>
            <p:ph type="sldNum" sz="quarter" idx="10"/>
          </p:nvPr>
        </p:nvSpPr>
        <p:spPr/>
        <p:txBody>
          <a:bodyPr/>
          <a:lstStyle/>
          <a:p>
            <a:fld id="{0631DD7B-2EBD-466F-B277-0EDC35A7E7C2}" type="slidenum">
              <a:rPr lang="it-IT" smtClean="0"/>
              <a:t>11</a:t>
            </a:fld>
            <a:endParaRPr lang="it-IT"/>
          </a:p>
        </p:txBody>
      </p:sp>
      <p:sp>
        <p:nvSpPr>
          <p:cNvPr id="5" name="Footer Placeholder 4"/>
          <p:cNvSpPr>
            <a:spLocks noGrp="1"/>
          </p:cNvSpPr>
          <p:nvPr>
            <p:ph type="ftr" sz="quarter" idx="11"/>
          </p:nvPr>
        </p:nvSpPr>
        <p:spPr/>
        <p:txBody>
          <a:bodyPr/>
          <a:lstStyle/>
          <a:p>
            <a:endParaRPr lang="it-IT"/>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9458" name="Rectangle 2"/>
          <p:cNvSpPr>
            <a:spLocks noGrp="1" noChangeArrowheads="1"/>
          </p:cNvSpPr>
          <p:nvPr>
            <p:ph type="ctrTitle" hasCustomPrompt="1"/>
          </p:nvPr>
        </p:nvSpPr>
        <p:spPr>
          <a:xfrm>
            <a:off x="1371600" y="1096963"/>
            <a:ext cx="7313613" cy="1447800"/>
          </a:xfrm>
        </p:spPr>
        <p:txBody>
          <a:bodyPr/>
          <a:lstStyle>
            <a:lvl1pPr algn="ctr">
              <a:defRPr sz="4400"/>
            </a:lvl1pPr>
          </a:lstStyle>
          <a:p>
            <a:pPr lvl="0"/>
            <a:r>
              <a:rPr lang="en-US" altLang="nl-NL" noProof="0"/>
              <a:t>CLICK TO EDIT MASTER TITLE STYLE</a:t>
            </a:r>
          </a:p>
        </p:txBody>
      </p:sp>
      <p:sp>
        <p:nvSpPr>
          <p:cNvPr id="19459" name="Rectangle 3"/>
          <p:cNvSpPr>
            <a:spLocks noGrp="1" noChangeArrowheads="1"/>
          </p:cNvSpPr>
          <p:nvPr>
            <p:ph type="subTitle" idx="1"/>
          </p:nvPr>
        </p:nvSpPr>
        <p:spPr>
          <a:xfrm>
            <a:off x="1371600" y="3001963"/>
            <a:ext cx="7313613" cy="2246312"/>
          </a:xfrm>
        </p:spPr>
        <p:txBody>
          <a:bodyPr/>
          <a:lstStyle>
            <a:lvl1pPr algn="ctr">
              <a:defRPr sz="2800"/>
            </a:lvl1pPr>
          </a:lstStyle>
          <a:p>
            <a:pPr lvl="0"/>
            <a:r>
              <a:rPr lang="en-US" altLang="nl-NL" noProof="0"/>
              <a:t>Click to edit Master subtitle style</a:t>
            </a:r>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4"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09600" y="6350000"/>
            <a:ext cx="1447800" cy="431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5" name="Line 7"/>
          <p:cNvSpPr>
            <a:spLocks noChangeShapeType="1"/>
          </p:cNvSpPr>
          <p:nvPr userDrawn="1"/>
        </p:nvSpPr>
        <p:spPr bwMode="auto">
          <a:xfrm>
            <a:off x="685800" y="6324600"/>
            <a:ext cx="819785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US"/>
          </a:p>
        </p:txBody>
      </p:sp>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idx="1"/>
          </p:nvPr>
        </p:nvSpPr>
        <p:spPr>
          <a:xfrm>
            <a:off x="1187450" y="1082675"/>
            <a:ext cx="7696200" cy="5365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Rectangle 70"/>
          <p:cNvSpPr>
            <a:spLocks noGrp="1" noChangeArrowheads="1"/>
          </p:cNvSpPr>
          <p:nvPr>
            <p:ph type="sldNum" sz="quarter" idx="10"/>
          </p:nvPr>
        </p:nvSpPr>
        <p:spPr>
          <a:xfrm>
            <a:off x="8407400" y="6446838"/>
            <a:ext cx="596900" cy="238125"/>
          </a:xfrm>
          <a:prstGeom prst="rect">
            <a:avLst/>
          </a:prstGeom>
        </p:spPr>
        <p:txBody>
          <a:bodyPr vert="horz" wrap="square" lIns="91440" tIns="45720" rIns="91440" bIns="45720" numCol="1" anchor="t" anchorCtr="0" compatLnSpc="1"/>
          <a:lstStyle>
            <a:lvl1pPr>
              <a:defRPr sz="1400" smtClean="0"/>
            </a:lvl1pPr>
          </a:lstStyle>
          <a:p>
            <a:pPr>
              <a:defRPr/>
            </a:pPr>
            <a:fld id="{5F0B40E5-884E-BF48-9629-A11F7F8AF00B}" type="slidenum">
              <a:rPr lang="en-US" altLang="en-US"/>
              <a:t>‹#›</a:t>
            </a:fld>
            <a:endParaRPr lang="en-US" altLang="en-US"/>
          </a:p>
        </p:txBody>
      </p:sp>
      <p:sp>
        <p:nvSpPr>
          <p:cNvPr id="7" name="Rectangle 5"/>
          <p:cNvSpPr>
            <a:spLocks noGrp="1" noChangeArrowheads="1"/>
          </p:cNvSpPr>
          <p:nvPr>
            <p:ph type="ftr" sz="quarter" idx="11"/>
          </p:nvPr>
        </p:nvSpPr>
        <p:spPr>
          <a:xfrm>
            <a:off x="2984500" y="6375400"/>
            <a:ext cx="3124200" cy="381000"/>
          </a:xfrm>
          <a:prstGeom prst="rect">
            <a:avLst/>
          </a:prstGeom>
        </p:spPr>
        <p:txBody>
          <a:bodyPr/>
          <a:lstStyle>
            <a:lvl1pPr algn="ctr">
              <a:defRPr sz="1400">
                <a:latin typeface="Arial" panose="020B0604020202020204" pitchFamily="34" charset="0"/>
              </a:defRPr>
            </a:lvl1pPr>
          </a:lstStyle>
          <a:p>
            <a:pPr>
              <a:defRPr/>
            </a:pPr>
            <a:r>
              <a:rPr lang="es-ES"/>
              <a:t>Prof. Yajun Ha </a:t>
            </a:r>
            <a:endParaRPr lang="en-US"/>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SG"/>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9"/>
          <p:cNvSpPr>
            <a:spLocks noGrp="1" noChangeArrowheads="1"/>
          </p:cNvSpPr>
          <p:nvPr>
            <p:ph type="ftr" sz="quarter" idx="10"/>
          </p:nvPr>
        </p:nvSpPr>
        <p:spPr>
          <a:xfrm>
            <a:off x="941388" y="6619875"/>
            <a:ext cx="1406525" cy="238125"/>
          </a:xfrm>
          <a:prstGeom prst="rect">
            <a:avLst/>
          </a:prstGeom>
        </p:spPr>
        <p:txBody>
          <a:bodyPr/>
          <a:lstStyle>
            <a:lvl1pPr>
              <a:defRPr>
                <a:latin typeface="Arial" panose="020B0604020202020204" pitchFamily="34" charset="0"/>
              </a:defRPr>
            </a:lvl1pPr>
          </a:lstStyle>
          <a:p>
            <a:pPr>
              <a:defRPr/>
            </a:pPr>
            <a:r>
              <a:rPr lang="en-US" altLang="zh-CN"/>
              <a:t>Prof. Yajun Ha </a:t>
            </a:r>
          </a:p>
        </p:txBody>
      </p:sp>
      <p:sp>
        <p:nvSpPr>
          <p:cNvPr id="5" name="Rectangle 70"/>
          <p:cNvSpPr>
            <a:spLocks noGrp="1" noChangeArrowheads="1"/>
          </p:cNvSpPr>
          <p:nvPr>
            <p:ph type="sldNum" sz="quarter" idx="11"/>
          </p:nvPr>
        </p:nvSpPr>
        <p:spPr>
          <a:xfrm>
            <a:off x="8521700" y="6592888"/>
            <a:ext cx="596900" cy="238125"/>
          </a:xfrm>
          <a:prstGeom prst="rect">
            <a:avLst/>
          </a:prstGeom>
        </p:spPr>
        <p:txBody>
          <a:bodyPr vert="horz" wrap="square" lIns="91440" tIns="45720" rIns="91440" bIns="45720" numCol="1" anchor="t" anchorCtr="0" compatLnSpc="1"/>
          <a:lstStyle>
            <a:lvl1pPr>
              <a:defRPr smtClean="0">
                <a:ea typeface="宋体" panose="02010600030101010101" pitchFamily="2" charset="-122"/>
              </a:defRPr>
            </a:lvl1pPr>
          </a:lstStyle>
          <a:p>
            <a:pPr>
              <a:defRPr/>
            </a:pPr>
            <a:fld id="{3DA6500B-5CE5-5047-8139-CAA7BAF190F1}" type="slidenum">
              <a:rPr lang="zh-CN" altLang="en-US"/>
              <a:t>‹#›</a:t>
            </a:fld>
            <a:endParaRPr lang="en-US" altLang="zh-CN"/>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5"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09600" y="6350000"/>
            <a:ext cx="1447800" cy="431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Line 7"/>
          <p:cNvSpPr>
            <a:spLocks noChangeShapeType="1"/>
          </p:cNvSpPr>
          <p:nvPr userDrawn="1"/>
        </p:nvSpPr>
        <p:spPr bwMode="auto">
          <a:xfrm>
            <a:off x="685800" y="6324600"/>
            <a:ext cx="819785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US"/>
          </a:p>
        </p:txBody>
      </p:sp>
      <p:sp>
        <p:nvSpPr>
          <p:cNvPr id="2" name="Title 1"/>
          <p:cNvSpPr>
            <a:spLocks noGrp="1"/>
          </p:cNvSpPr>
          <p:nvPr>
            <p:ph type="title"/>
          </p:nvPr>
        </p:nvSpPr>
        <p:spPr/>
        <p:txBody>
          <a:bodyPr/>
          <a:lstStyle/>
          <a:p>
            <a:r>
              <a:rPr lang="en-US"/>
              <a:t>Click to edit Master title style</a:t>
            </a:r>
            <a:endParaRPr lang="en-SG"/>
          </a:p>
        </p:txBody>
      </p:sp>
      <p:sp>
        <p:nvSpPr>
          <p:cNvPr id="3" name="Content Placeholder 2"/>
          <p:cNvSpPr>
            <a:spLocks noGrp="1"/>
          </p:cNvSpPr>
          <p:nvPr>
            <p:ph sz="half" idx="1"/>
          </p:nvPr>
        </p:nvSpPr>
        <p:spPr>
          <a:xfrm>
            <a:off x="1216025" y="1216025"/>
            <a:ext cx="3771900" cy="53657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p:cNvSpPr>
            <a:spLocks noGrp="1"/>
          </p:cNvSpPr>
          <p:nvPr>
            <p:ph sz="half" idx="2"/>
          </p:nvPr>
        </p:nvSpPr>
        <p:spPr>
          <a:xfrm>
            <a:off x="5140325" y="1216025"/>
            <a:ext cx="3771900" cy="53657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Rectangle 5"/>
          <p:cNvSpPr>
            <a:spLocks noGrp="1" noChangeArrowheads="1"/>
          </p:cNvSpPr>
          <p:nvPr>
            <p:ph type="ftr" sz="quarter" idx="10"/>
          </p:nvPr>
        </p:nvSpPr>
        <p:spPr>
          <a:xfrm>
            <a:off x="2933700" y="6477000"/>
            <a:ext cx="3124200" cy="381000"/>
          </a:xfrm>
          <a:prstGeom prst="rect">
            <a:avLst/>
          </a:prstGeom>
        </p:spPr>
        <p:txBody>
          <a:bodyPr/>
          <a:lstStyle>
            <a:lvl1pPr algn="ctr">
              <a:defRPr sz="1400">
                <a:latin typeface="Arial" panose="020B0604020202020204" pitchFamily="34" charset="0"/>
              </a:defRPr>
            </a:lvl1pPr>
          </a:lstStyle>
          <a:p>
            <a:pPr>
              <a:defRPr/>
            </a:pPr>
            <a:r>
              <a:rPr lang="es-ES"/>
              <a:t>Prof. Yajun Ha </a:t>
            </a:r>
            <a:endParaRPr lang="en-US"/>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SG"/>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Rectangle 69"/>
          <p:cNvSpPr>
            <a:spLocks noGrp="1" noChangeArrowheads="1"/>
          </p:cNvSpPr>
          <p:nvPr>
            <p:ph type="ftr" sz="quarter" idx="10"/>
          </p:nvPr>
        </p:nvSpPr>
        <p:spPr>
          <a:xfrm>
            <a:off x="941388" y="6619875"/>
            <a:ext cx="1406525" cy="238125"/>
          </a:xfrm>
          <a:prstGeom prst="rect">
            <a:avLst/>
          </a:prstGeom>
        </p:spPr>
        <p:txBody>
          <a:bodyPr/>
          <a:lstStyle>
            <a:lvl1pPr>
              <a:defRPr>
                <a:latin typeface="Arial" panose="020B0604020202020204" pitchFamily="34" charset="0"/>
              </a:defRPr>
            </a:lvl1pPr>
          </a:lstStyle>
          <a:p>
            <a:pPr>
              <a:defRPr/>
            </a:pPr>
            <a:r>
              <a:rPr lang="en-US" altLang="zh-CN"/>
              <a:t>Prof. Yajun Ha </a:t>
            </a:r>
          </a:p>
        </p:txBody>
      </p:sp>
      <p:sp>
        <p:nvSpPr>
          <p:cNvPr id="8" name="Rectangle 70"/>
          <p:cNvSpPr>
            <a:spLocks noGrp="1" noChangeArrowheads="1"/>
          </p:cNvSpPr>
          <p:nvPr>
            <p:ph type="sldNum" sz="quarter" idx="11"/>
          </p:nvPr>
        </p:nvSpPr>
        <p:spPr>
          <a:xfrm>
            <a:off x="8521700" y="6592888"/>
            <a:ext cx="596900" cy="238125"/>
          </a:xfrm>
          <a:prstGeom prst="rect">
            <a:avLst/>
          </a:prstGeom>
        </p:spPr>
        <p:txBody>
          <a:bodyPr vert="horz" wrap="square" lIns="91440" tIns="45720" rIns="91440" bIns="45720" numCol="1" anchor="t" anchorCtr="0" compatLnSpc="1"/>
          <a:lstStyle>
            <a:lvl1pPr>
              <a:defRPr smtClean="0">
                <a:ea typeface="宋体" panose="02010600030101010101" pitchFamily="2" charset="-122"/>
              </a:defRPr>
            </a:lvl1pPr>
          </a:lstStyle>
          <a:p>
            <a:pPr>
              <a:defRPr/>
            </a:pPr>
            <a:fld id="{A32626E3-4749-494A-BA26-49E5DEB7E2DC}" type="slidenum">
              <a:rPr lang="zh-CN" altLang="en-US"/>
              <a:t>‹#›</a:t>
            </a:fld>
            <a:endParaRPr lang="en-US" altLang="zh-CN"/>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pic>
        <p:nvPicPr>
          <p:cNvPr id="3" name="Picture 4"/>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09600" y="6350000"/>
            <a:ext cx="1447800" cy="431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Line 7"/>
          <p:cNvSpPr>
            <a:spLocks noChangeShapeType="1"/>
          </p:cNvSpPr>
          <p:nvPr userDrawn="1"/>
        </p:nvSpPr>
        <p:spPr bwMode="auto">
          <a:xfrm>
            <a:off x="685800" y="6324600"/>
            <a:ext cx="8197850" cy="0"/>
          </a:xfrm>
          <a:prstGeom prst="line">
            <a:avLst/>
          </a:prstGeom>
          <a:noFill/>
          <a:ln w="9525">
            <a:solidFill>
              <a:schemeClr val="tx1"/>
            </a:solidFill>
            <a:round/>
          </a:ln>
          <a:extLst>
            <a:ext uri="{909E8E84-426E-40DD-AFC4-6F175D3DCCD1}">
              <a14:hiddenFill xmlns:a14="http://schemas.microsoft.com/office/drawing/2010/main">
                <a:noFill/>
              </a14:hiddenFill>
            </a:ext>
          </a:extLst>
        </p:spPr>
        <p:txBody>
          <a:bodyPr wrap="none" anchor="ctr"/>
          <a:lstStyle/>
          <a:p>
            <a:endParaRPr lang="en-US"/>
          </a:p>
        </p:txBody>
      </p:sp>
      <p:sp>
        <p:nvSpPr>
          <p:cNvPr id="2" name="Title 1"/>
          <p:cNvSpPr>
            <a:spLocks noGrp="1"/>
          </p:cNvSpPr>
          <p:nvPr>
            <p:ph type="title"/>
          </p:nvPr>
        </p:nvSpPr>
        <p:spPr/>
        <p:txBody>
          <a:bodyPr/>
          <a:lstStyle/>
          <a:p>
            <a:r>
              <a:rPr lang="en-US"/>
              <a:t>Click to edit Master title style</a:t>
            </a:r>
            <a:endParaRPr lang="en-SG"/>
          </a:p>
        </p:txBody>
      </p:sp>
      <p:sp>
        <p:nvSpPr>
          <p:cNvPr id="5" name="Rectangle 70"/>
          <p:cNvSpPr>
            <a:spLocks noGrp="1" noChangeArrowheads="1"/>
          </p:cNvSpPr>
          <p:nvPr>
            <p:ph type="sldNum" sz="quarter" idx="10"/>
          </p:nvPr>
        </p:nvSpPr>
        <p:spPr>
          <a:xfrm>
            <a:off x="8191500" y="6446838"/>
            <a:ext cx="596900" cy="238125"/>
          </a:xfrm>
          <a:prstGeom prst="rect">
            <a:avLst/>
          </a:prstGeom>
        </p:spPr>
        <p:txBody>
          <a:bodyPr vert="horz" wrap="square" lIns="91440" tIns="45720" rIns="91440" bIns="45720" numCol="1" anchor="t" anchorCtr="0" compatLnSpc="1"/>
          <a:lstStyle>
            <a:lvl1pPr>
              <a:defRPr sz="1400" smtClean="0"/>
            </a:lvl1pPr>
          </a:lstStyle>
          <a:p>
            <a:pPr>
              <a:defRPr/>
            </a:pPr>
            <a:fld id="{4661D78A-AC99-F64E-8C3B-B09E26F47AC3}" type="slidenum">
              <a:rPr lang="en-US" altLang="en-US"/>
              <a:t>‹#›</a:t>
            </a:fld>
            <a:endParaRPr lang="en-US" altLang="en-US"/>
          </a:p>
        </p:txBody>
      </p:sp>
      <p:sp>
        <p:nvSpPr>
          <p:cNvPr id="6" name="Footer Placeholder 5"/>
          <p:cNvSpPr>
            <a:spLocks noGrp="1" noChangeArrowheads="1"/>
          </p:cNvSpPr>
          <p:nvPr>
            <p:ph type="ftr" sz="quarter" idx="11"/>
          </p:nvPr>
        </p:nvSpPr>
        <p:spPr>
          <a:xfrm>
            <a:off x="3155950" y="6375400"/>
            <a:ext cx="3124200" cy="381000"/>
          </a:xfrm>
          <a:prstGeom prst="rect">
            <a:avLst/>
          </a:prstGeom>
        </p:spPr>
        <p:txBody>
          <a:bodyPr/>
          <a:lstStyle>
            <a:lvl1pPr algn="ctr">
              <a:defRPr sz="1400">
                <a:latin typeface="Arial" panose="020B0604020202020204" pitchFamily="34" charset="0"/>
              </a:defRPr>
            </a:lvl1pPr>
          </a:lstStyle>
          <a:p>
            <a:pPr>
              <a:defRPr/>
            </a:pPr>
            <a:r>
              <a:rPr lang="es-ES"/>
              <a:t>Prof. Yajun Ha </a:t>
            </a:r>
            <a:endParaRPr lang="en-US"/>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 with Caption">
    <p:spTree>
      <p:nvGrpSpPr>
        <p:cNvPr id="1" name=""/>
        <p:cNvGrpSpPr/>
        <p:nvPr/>
      </p:nvGrpSpPr>
      <p:grpSpPr>
        <a:xfrm>
          <a:off x="0" y="0"/>
          <a:ext cx="0" cy="0"/>
          <a:chOff x="0" y="0"/>
          <a:chExt cx="0" cy="0"/>
        </a:xfrm>
      </p:grpSpPr>
      <p:sp>
        <p:nvSpPr>
          <p:cNvPr id="3" name="Content Placeholder 2"/>
          <p:cNvSpPr>
            <a:spLocks noGrp="1"/>
          </p:cNvSpPr>
          <p:nvPr>
            <p:ph idx="1"/>
          </p:nvPr>
        </p:nvSpPr>
        <p:spPr>
          <a:xfrm>
            <a:off x="2324100" y="273050"/>
            <a:ext cx="636270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SG"/>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SG"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9"/>
          <p:cNvSpPr>
            <a:spLocks noGrp="1" noChangeArrowheads="1"/>
          </p:cNvSpPr>
          <p:nvPr>
            <p:ph type="ftr" sz="quarter" idx="10"/>
          </p:nvPr>
        </p:nvSpPr>
        <p:spPr>
          <a:xfrm>
            <a:off x="941388" y="6619875"/>
            <a:ext cx="1406525" cy="238125"/>
          </a:xfrm>
          <a:prstGeom prst="rect">
            <a:avLst/>
          </a:prstGeom>
        </p:spPr>
        <p:txBody>
          <a:bodyPr/>
          <a:lstStyle>
            <a:lvl1pPr>
              <a:defRPr>
                <a:latin typeface="Arial" panose="020B0604020202020204" pitchFamily="34" charset="0"/>
              </a:defRPr>
            </a:lvl1pPr>
          </a:lstStyle>
          <a:p>
            <a:pPr>
              <a:defRPr/>
            </a:pPr>
            <a:r>
              <a:rPr lang="en-US" altLang="zh-CN"/>
              <a:t>Prof. Yajun Ha </a:t>
            </a:r>
          </a:p>
        </p:txBody>
      </p:sp>
      <p:sp>
        <p:nvSpPr>
          <p:cNvPr id="6" name="Rectangle 70"/>
          <p:cNvSpPr>
            <a:spLocks noGrp="1" noChangeArrowheads="1"/>
          </p:cNvSpPr>
          <p:nvPr>
            <p:ph type="sldNum" sz="quarter" idx="11"/>
          </p:nvPr>
        </p:nvSpPr>
        <p:spPr>
          <a:xfrm>
            <a:off x="8521700" y="6592888"/>
            <a:ext cx="596900" cy="238125"/>
          </a:xfrm>
          <a:prstGeom prst="rect">
            <a:avLst/>
          </a:prstGeom>
        </p:spPr>
        <p:txBody>
          <a:bodyPr vert="horz" wrap="square" lIns="91440" tIns="45720" rIns="91440" bIns="45720" numCol="1" anchor="t" anchorCtr="0" compatLnSpc="1"/>
          <a:lstStyle>
            <a:lvl1pPr>
              <a:defRPr smtClean="0">
                <a:ea typeface="宋体" panose="02010600030101010101" pitchFamily="2" charset="-122"/>
              </a:defRPr>
            </a:lvl1pPr>
          </a:lstStyle>
          <a:p>
            <a:pPr>
              <a:defRPr/>
            </a:pPr>
            <a:fld id="{C495213C-5836-5243-9486-143DB37A8F4D}" type="slidenum">
              <a:rPr lang="zh-CN" altLang="en-US"/>
              <a:t>‹#›</a:t>
            </a:fld>
            <a:endParaRPr lang="en-US" altLang="zh-CN"/>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SG"/>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988175" y="152400"/>
            <a:ext cx="1924050" cy="6429375"/>
          </a:xfrm>
        </p:spPr>
        <p:txBody>
          <a:bodyPr vert="eaVert"/>
          <a:lstStyle/>
          <a:p>
            <a:r>
              <a:rPr lang="en-US"/>
              <a:t>Click to edit Master title style</a:t>
            </a:r>
            <a:endParaRPr lang="en-SG"/>
          </a:p>
        </p:txBody>
      </p:sp>
      <p:sp>
        <p:nvSpPr>
          <p:cNvPr id="3" name="Vertical Text Placeholder 2"/>
          <p:cNvSpPr>
            <a:spLocks noGrp="1"/>
          </p:cNvSpPr>
          <p:nvPr>
            <p:ph type="body" orient="vert" idx="1"/>
          </p:nvPr>
        </p:nvSpPr>
        <p:spPr>
          <a:xfrm>
            <a:off x="1216025" y="152400"/>
            <a:ext cx="5619750" cy="64293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bwMode="auto">
          <a:xfrm>
            <a:off x="1216025" y="152400"/>
            <a:ext cx="7696200" cy="762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0488" tIns="44450" rIns="90488" bIns="44450" numCol="1" anchor="ctr" anchorCtr="0" compatLnSpc="1"/>
          <a:lstStyle/>
          <a:p>
            <a:pPr lvl="0"/>
            <a:r>
              <a:rPr lang="en-US" altLang="nl-NL"/>
              <a:t>Slide Title</a:t>
            </a:r>
          </a:p>
        </p:txBody>
      </p:sp>
      <p:sp>
        <p:nvSpPr>
          <p:cNvPr id="80899" name="Rectangle 3"/>
          <p:cNvSpPr>
            <a:spLocks noGrp="1" noChangeArrowheads="1"/>
          </p:cNvSpPr>
          <p:nvPr>
            <p:ph type="body" idx="1"/>
          </p:nvPr>
        </p:nvSpPr>
        <p:spPr bwMode="auto">
          <a:xfrm>
            <a:off x="1216025" y="1216025"/>
            <a:ext cx="7696200" cy="53657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0488" tIns="44450" rIns="90488" bIns="44450" numCol="1" anchor="t" anchorCtr="0" compatLnSpc="1"/>
          <a:lstStyle/>
          <a:p>
            <a:pPr lvl="0"/>
            <a:r>
              <a:rPr lang="en-US" altLang="nl-NL"/>
              <a:t>First level</a:t>
            </a:r>
          </a:p>
          <a:p>
            <a:pPr lvl="1"/>
            <a:r>
              <a:rPr lang="en-US" altLang="nl-NL"/>
              <a:t>Second level</a:t>
            </a:r>
          </a:p>
          <a:p>
            <a:pPr lvl="2"/>
            <a:r>
              <a:rPr lang="en-US" altLang="nl-NL"/>
              <a:t>Third Level</a:t>
            </a:r>
          </a:p>
          <a:p>
            <a:pPr lvl="3"/>
            <a:r>
              <a:rPr lang="en-US" altLang="nl-NL"/>
              <a:t>Fourth Level</a:t>
            </a:r>
          </a:p>
          <a:p>
            <a:pPr lvl="4"/>
            <a:r>
              <a:rPr lang="en-US" altLang="nl-NL"/>
              <a:t>Fifth Level</a:t>
            </a:r>
          </a:p>
        </p:txBody>
      </p:sp>
      <p:sp>
        <p:nvSpPr>
          <p:cNvPr id="1031" name="Rectangle 41"/>
          <p:cNvSpPr>
            <a:spLocks noChangeArrowheads="1"/>
          </p:cNvSpPr>
          <p:nvPr/>
        </p:nvSpPr>
        <p:spPr bwMode="auto">
          <a:xfrm>
            <a:off x="1219200" y="990600"/>
            <a:ext cx="7924800" cy="53975"/>
          </a:xfrm>
          <a:prstGeom prst="rect">
            <a:avLst/>
          </a:prstGeom>
          <a:solidFill>
            <a:schemeClr val="accent1"/>
          </a:solidFill>
          <a:ln>
            <a:noFill/>
          </a:ln>
          <a:effectLst/>
        </p:spPr>
        <p:txBody>
          <a:bodyPr wrap="none" anchor="ctr"/>
          <a:lstStyle>
            <a:lvl1pPr>
              <a:defRPr sz="2400">
                <a:solidFill>
                  <a:schemeClr val="tx1"/>
                </a:solidFill>
                <a:latin typeface="Arial" panose="020B0604020202020204" pitchFamily="34" charset="0"/>
              </a:defRPr>
            </a:lvl1pPr>
            <a:lvl2pPr marL="742950" indent="-285750">
              <a:defRPr sz="2400">
                <a:solidFill>
                  <a:schemeClr val="tx1"/>
                </a:solidFill>
                <a:latin typeface="Arial" panose="020B0604020202020204" pitchFamily="34" charset="0"/>
              </a:defRPr>
            </a:lvl2pPr>
            <a:lvl3pPr marL="1143000" indent="-228600">
              <a:defRPr sz="2400">
                <a:solidFill>
                  <a:schemeClr val="tx1"/>
                </a:solidFill>
                <a:latin typeface="Arial" panose="020B0604020202020204" pitchFamily="34" charset="0"/>
              </a:defRPr>
            </a:lvl3pPr>
            <a:lvl4pPr marL="1600200" indent="-228600">
              <a:defRPr sz="2400">
                <a:solidFill>
                  <a:schemeClr val="tx1"/>
                </a:solidFill>
                <a:latin typeface="Arial" panose="020B0604020202020204" pitchFamily="34" charset="0"/>
              </a:defRPr>
            </a:lvl4pPr>
            <a:lvl5pPr marL="2057400" indent="-228600">
              <a:defRPr sz="2400">
                <a:solidFill>
                  <a:schemeClr val="tx1"/>
                </a:solidFill>
                <a:latin typeface="Arial" panose="020B0604020202020204" pitchFamily="34" charset="0"/>
              </a:defRPr>
            </a:lvl5pPr>
            <a:lvl6pPr marL="2514600" indent="-228600" eaLnBrk="0" fontAlgn="base" hangingPunct="0">
              <a:lnSpc>
                <a:spcPct val="88000"/>
              </a:lnSpc>
              <a:spcBef>
                <a:spcPct val="30000"/>
              </a:spcBef>
              <a:spcAft>
                <a:spcPct val="0"/>
              </a:spcAft>
              <a:defRPr sz="2400">
                <a:solidFill>
                  <a:schemeClr val="tx1"/>
                </a:solidFill>
                <a:latin typeface="Arial" panose="020B0604020202020204" pitchFamily="34" charset="0"/>
              </a:defRPr>
            </a:lvl6pPr>
            <a:lvl7pPr marL="2971800" indent="-228600" eaLnBrk="0" fontAlgn="base" hangingPunct="0">
              <a:lnSpc>
                <a:spcPct val="88000"/>
              </a:lnSpc>
              <a:spcBef>
                <a:spcPct val="30000"/>
              </a:spcBef>
              <a:spcAft>
                <a:spcPct val="0"/>
              </a:spcAft>
              <a:defRPr sz="2400">
                <a:solidFill>
                  <a:schemeClr val="tx1"/>
                </a:solidFill>
                <a:latin typeface="Arial" panose="020B0604020202020204" pitchFamily="34" charset="0"/>
              </a:defRPr>
            </a:lvl7pPr>
            <a:lvl8pPr marL="3429000" indent="-228600" eaLnBrk="0" fontAlgn="base" hangingPunct="0">
              <a:lnSpc>
                <a:spcPct val="88000"/>
              </a:lnSpc>
              <a:spcBef>
                <a:spcPct val="30000"/>
              </a:spcBef>
              <a:spcAft>
                <a:spcPct val="0"/>
              </a:spcAft>
              <a:defRPr sz="2400">
                <a:solidFill>
                  <a:schemeClr val="tx1"/>
                </a:solidFill>
                <a:latin typeface="Arial" panose="020B0604020202020204" pitchFamily="34" charset="0"/>
              </a:defRPr>
            </a:lvl8pPr>
            <a:lvl9pPr marL="3886200" indent="-228600" eaLnBrk="0" fontAlgn="base" hangingPunct="0">
              <a:lnSpc>
                <a:spcPct val="88000"/>
              </a:lnSpc>
              <a:spcBef>
                <a:spcPct val="30000"/>
              </a:spcBef>
              <a:spcAft>
                <a:spcPct val="0"/>
              </a:spcAft>
              <a:defRPr sz="2400">
                <a:solidFill>
                  <a:schemeClr val="tx1"/>
                </a:solidFill>
                <a:latin typeface="Arial" panose="020B0604020202020204" pitchFamily="34" charset="0"/>
              </a:defRPr>
            </a:lvl9pPr>
          </a:lstStyle>
          <a:p>
            <a:pPr>
              <a:defRPr/>
            </a:pPr>
            <a:endParaRPr lang="en-SG"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ransition/>
  <p:hf hdr="0" dt="0"/>
  <p:txStyles>
    <p:titleStyle>
      <a:lvl1pPr algn="r" rtl="0" eaLnBrk="0" fontAlgn="base" hangingPunct="0">
        <a:lnSpc>
          <a:spcPct val="88000"/>
        </a:lnSpc>
        <a:spcBef>
          <a:spcPct val="0"/>
        </a:spcBef>
        <a:spcAft>
          <a:spcPct val="0"/>
        </a:spcAft>
        <a:defRPr sz="3200" b="1">
          <a:solidFill>
            <a:schemeClr val="tx2"/>
          </a:solidFill>
          <a:latin typeface="+mj-lt"/>
          <a:ea typeface="+mj-ea"/>
          <a:cs typeface="+mj-cs"/>
        </a:defRPr>
      </a:lvl1pPr>
      <a:lvl2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2pPr>
      <a:lvl3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3pPr>
      <a:lvl4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4pPr>
      <a:lvl5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5pPr>
      <a:lvl6pPr marL="4572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6pPr>
      <a:lvl7pPr marL="9144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7pPr>
      <a:lvl8pPr marL="13716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8pPr>
      <a:lvl9pPr marL="18288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9pPr>
    </p:titleStyle>
    <p:bodyStyle>
      <a:lvl1pPr algn="l" rtl="0" eaLnBrk="0" fontAlgn="base" hangingPunct="0">
        <a:lnSpc>
          <a:spcPct val="88000"/>
        </a:lnSpc>
        <a:spcBef>
          <a:spcPct val="30000"/>
        </a:spcBef>
        <a:spcAft>
          <a:spcPct val="0"/>
        </a:spcAft>
        <a:buClr>
          <a:srgbClr val="000066"/>
        </a:buClr>
        <a:buSzPct val="75000"/>
        <a:buFont typeface="Wingdings" panose="05000000000000000000" pitchFamily="2" charset="2"/>
        <a:defRPr sz="2400">
          <a:solidFill>
            <a:schemeClr val="tx1"/>
          </a:solidFill>
          <a:latin typeface="+mn-lt"/>
          <a:ea typeface="+mn-ea"/>
          <a:cs typeface="+mn-cs"/>
        </a:defRPr>
      </a:lvl1pPr>
      <a:lvl2pPr marL="665480" indent="-190500" algn="l" rtl="0" eaLnBrk="0" fontAlgn="base" hangingPunct="0">
        <a:lnSpc>
          <a:spcPct val="88000"/>
        </a:lnSpc>
        <a:spcBef>
          <a:spcPct val="30000"/>
        </a:spcBef>
        <a:spcAft>
          <a:spcPct val="0"/>
        </a:spcAft>
        <a:buClr>
          <a:schemeClr val="bg2"/>
        </a:buClr>
        <a:buSzPct val="75000"/>
        <a:buFont typeface="Wingdings" panose="05000000000000000000" pitchFamily="2" charset="2"/>
        <a:buChar char="n"/>
        <a:defRPr>
          <a:solidFill>
            <a:schemeClr val="tx1"/>
          </a:solidFill>
          <a:latin typeface="+mn-lt"/>
        </a:defRPr>
      </a:lvl2pPr>
      <a:lvl3pPr marL="952500" indent="-1905" algn="l" rtl="0" eaLnBrk="0" fontAlgn="base" hangingPunct="0">
        <a:lnSpc>
          <a:spcPct val="88000"/>
        </a:lnSpc>
        <a:spcBef>
          <a:spcPct val="30000"/>
        </a:spcBef>
        <a:spcAft>
          <a:spcPct val="0"/>
        </a:spcAft>
        <a:defRPr>
          <a:solidFill>
            <a:schemeClr val="tx1"/>
          </a:solidFill>
          <a:latin typeface="+mn-lt"/>
        </a:defRPr>
      </a:lvl3pPr>
      <a:lvl4pPr marL="1619250" indent="-190500" algn="l" rtl="0" eaLnBrk="0" fontAlgn="base" hangingPunct="0">
        <a:lnSpc>
          <a:spcPct val="88000"/>
        </a:lnSpc>
        <a:spcBef>
          <a:spcPct val="30000"/>
        </a:spcBef>
        <a:spcAft>
          <a:spcPct val="0"/>
        </a:spcAft>
        <a:buClr>
          <a:schemeClr val="bg2"/>
        </a:buClr>
        <a:buSzPct val="75000"/>
        <a:buFont typeface="Wingdings" panose="05000000000000000000" pitchFamily="2" charset="2"/>
        <a:buChar char="n"/>
        <a:defRPr sz="1400">
          <a:solidFill>
            <a:schemeClr val="tx1"/>
          </a:solidFill>
          <a:latin typeface="+mn-lt"/>
        </a:defRPr>
      </a:lvl4pPr>
      <a:lvl5pPr marL="1905000" algn="l" rtl="0" eaLnBrk="0" fontAlgn="base" hangingPunct="0">
        <a:lnSpc>
          <a:spcPct val="88000"/>
        </a:lnSpc>
        <a:spcBef>
          <a:spcPct val="30000"/>
        </a:spcBef>
        <a:spcAft>
          <a:spcPct val="0"/>
        </a:spcAft>
        <a:buSzPct val="100000"/>
        <a:defRPr sz="1400">
          <a:solidFill>
            <a:schemeClr val="tx1"/>
          </a:solidFill>
          <a:latin typeface="+mn-lt"/>
        </a:defRPr>
      </a:lvl5pPr>
      <a:lvl6pPr marL="2362200" algn="l" rtl="0" eaLnBrk="0" fontAlgn="base" hangingPunct="0">
        <a:lnSpc>
          <a:spcPct val="88000"/>
        </a:lnSpc>
        <a:spcBef>
          <a:spcPct val="30000"/>
        </a:spcBef>
        <a:spcAft>
          <a:spcPct val="0"/>
        </a:spcAft>
        <a:buSzPct val="100000"/>
        <a:defRPr sz="1400">
          <a:solidFill>
            <a:schemeClr val="tx1"/>
          </a:solidFill>
          <a:latin typeface="+mn-lt"/>
        </a:defRPr>
      </a:lvl6pPr>
      <a:lvl7pPr marL="2819400" algn="l" rtl="0" eaLnBrk="0" fontAlgn="base" hangingPunct="0">
        <a:lnSpc>
          <a:spcPct val="88000"/>
        </a:lnSpc>
        <a:spcBef>
          <a:spcPct val="30000"/>
        </a:spcBef>
        <a:spcAft>
          <a:spcPct val="0"/>
        </a:spcAft>
        <a:buSzPct val="100000"/>
        <a:defRPr sz="1400">
          <a:solidFill>
            <a:schemeClr val="tx1"/>
          </a:solidFill>
          <a:latin typeface="+mn-lt"/>
        </a:defRPr>
      </a:lvl7pPr>
      <a:lvl8pPr marL="3276600" algn="l" rtl="0" eaLnBrk="0" fontAlgn="base" hangingPunct="0">
        <a:lnSpc>
          <a:spcPct val="88000"/>
        </a:lnSpc>
        <a:spcBef>
          <a:spcPct val="30000"/>
        </a:spcBef>
        <a:spcAft>
          <a:spcPct val="0"/>
        </a:spcAft>
        <a:buSzPct val="100000"/>
        <a:defRPr sz="1400">
          <a:solidFill>
            <a:schemeClr val="tx1"/>
          </a:solidFill>
          <a:latin typeface="+mn-lt"/>
        </a:defRPr>
      </a:lvl8pPr>
      <a:lvl9pPr marL="3733800" algn="l" rtl="0" eaLnBrk="0" fontAlgn="base" hangingPunct="0">
        <a:lnSpc>
          <a:spcPct val="88000"/>
        </a:lnSpc>
        <a:spcBef>
          <a:spcPct val="30000"/>
        </a:spcBef>
        <a:spcAft>
          <a:spcPct val="0"/>
        </a:spcAft>
        <a:buSzPct val="100000"/>
        <a:defRPr sz="14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arxiv.org/pdf/2309.04937v3" TargetMode="Externa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github.com/umautobots/LONER"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hyperlink" Target="https://arxiv.org/pdf/2402.19044v2"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gif"/></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Text Box 17"/>
          <p:cNvSpPr txBox="1">
            <a:spLocks noChangeArrowheads="1"/>
          </p:cNvSpPr>
          <p:nvPr/>
        </p:nvSpPr>
        <p:spPr bwMode="auto">
          <a:xfrm>
            <a:off x="1295400" y="4419335"/>
            <a:ext cx="6553200" cy="461665"/>
          </a:xfrm>
          <a:prstGeom prst="rect">
            <a:avLst/>
          </a:prstGeom>
          <a:noFill/>
          <a:ln w="9525">
            <a:noFill/>
            <a:miter lim="800000"/>
          </a:ln>
        </p:spPr>
        <p:txBody>
          <a:bodyPr>
            <a:spAutoFit/>
          </a:bodyPr>
          <a:lstStyle/>
          <a:p>
            <a:pPr algn="ctr" eaLnBrk="0" hangingPunct="0"/>
            <a:r>
              <a:rPr lang="zh-CN" altLang="en-US" sz="2400" b="1" dirty="0">
                <a:solidFill>
                  <a:schemeClr val="accent4">
                    <a:lumMod val="60000"/>
                    <a:lumOff val="40000"/>
                  </a:schemeClr>
                </a:solidFill>
                <a:latin typeface="Arial" panose="020B0604020202020204" pitchFamily="34" charset="0"/>
              </a:rPr>
              <a:t>小组成员：佘成应  王奔</a:t>
            </a:r>
            <a:endParaRPr lang="it-IT" sz="2400" b="1" dirty="0">
              <a:solidFill>
                <a:schemeClr val="accent4">
                  <a:lumMod val="60000"/>
                  <a:lumOff val="40000"/>
                </a:schemeClr>
              </a:solidFill>
              <a:latin typeface="Arial" panose="020B0604020202020204" pitchFamily="34" charset="0"/>
            </a:endParaRPr>
          </a:p>
        </p:txBody>
      </p:sp>
      <p:sp>
        <p:nvSpPr>
          <p:cNvPr id="14" name="Text Box 19"/>
          <p:cNvSpPr txBox="1">
            <a:spLocks noChangeArrowheads="1"/>
          </p:cNvSpPr>
          <p:nvPr/>
        </p:nvSpPr>
        <p:spPr bwMode="auto">
          <a:xfrm>
            <a:off x="609600" y="1246592"/>
            <a:ext cx="7924800" cy="829945"/>
          </a:xfrm>
          <a:prstGeom prst="rect">
            <a:avLst/>
          </a:prstGeom>
          <a:noFill/>
          <a:ln w="9525">
            <a:noFill/>
            <a:miter lim="800000"/>
          </a:ln>
        </p:spPr>
        <p:txBody>
          <a:bodyPr>
            <a:spAutoFit/>
          </a:bodyPr>
          <a:lstStyle/>
          <a:p>
            <a:pPr algn="ctr" eaLnBrk="0" hangingPunct="0">
              <a:spcAft>
                <a:spcPts val="900"/>
              </a:spcAft>
            </a:pPr>
            <a:r>
              <a:rPr lang="en-US" altLang="zh-CN" sz="4800" b="1" i="0" u="none" strike="noStrike" baseline="0" dirty="0">
                <a:solidFill>
                  <a:srgbClr val="082E72"/>
                </a:solidFill>
                <a:latin typeface="黑体" panose="02010609060101010101" charset="-122"/>
                <a:ea typeface="黑体" panose="02010609060101010101" charset="-122"/>
              </a:rPr>
              <a:t>SI360 2024-Project</a:t>
            </a:r>
            <a:endParaRPr lang="en-US" altLang="zh-CN" sz="7200" b="1" dirty="0">
              <a:solidFill>
                <a:srgbClr val="CC0066"/>
              </a:solidFill>
              <a:latin typeface="黑体" panose="02010609060101010101" charset="-122"/>
              <a:ea typeface="黑体" panose="02010609060101010101" charset="-122"/>
              <a:cs typeface="Times New Roman" panose="02020603050405020304" pitchFamily="18" charset="0"/>
            </a:endParaRPr>
          </a:p>
        </p:txBody>
      </p:sp>
      <p:sp>
        <p:nvSpPr>
          <p:cNvPr id="7" name="Rectangle 6"/>
          <p:cNvSpPr txBox="1">
            <a:spLocks noChangeArrowheads="1"/>
          </p:cNvSpPr>
          <p:nvPr/>
        </p:nvSpPr>
        <p:spPr bwMode="auto">
          <a:xfrm>
            <a:off x="400050" y="2645418"/>
            <a:ext cx="8343900" cy="11926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0488" tIns="44450" rIns="90488" bIns="44450" numCol="1" anchor="ctr" anchorCtr="0" compatLnSpc="1"/>
          <a:lstStyle>
            <a:lvl1pPr algn="ctr" rtl="0" eaLnBrk="0" fontAlgn="base" hangingPunct="0">
              <a:lnSpc>
                <a:spcPct val="88000"/>
              </a:lnSpc>
              <a:spcBef>
                <a:spcPct val="0"/>
              </a:spcBef>
              <a:spcAft>
                <a:spcPct val="0"/>
              </a:spcAft>
              <a:defRPr sz="4400" b="1">
                <a:solidFill>
                  <a:schemeClr val="tx2"/>
                </a:solidFill>
                <a:latin typeface="+mj-lt"/>
                <a:ea typeface="+mj-ea"/>
                <a:cs typeface="+mj-cs"/>
              </a:defRPr>
            </a:lvl1pPr>
            <a:lvl2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2pPr>
            <a:lvl3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3pPr>
            <a:lvl4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4pPr>
            <a:lvl5pPr algn="r" rtl="0" eaLnBrk="0" fontAlgn="base" hangingPunct="0">
              <a:lnSpc>
                <a:spcPct val="88000"/>
              </a:lnSpc>
              <a:spcBef>
                <a:spcPct val="0"/>
              </a:spcBef>
              <a:spcAft>
                <a:spcPct val="0"/>
              </a:spcAft>
              <a:defRPr sz="3200" b="1">
                <a:solidFill>
                  <a:schemeClr val="tx2"/>
                </a:solidFill>
                <a:latin typeface="Arial" panose="020B0604020202020204" pitchFamily="34" charset="0"/>
              </a:defRPr>
            </a:lvl5pPr>
            <a:lvl6pPr marL="4572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6pPr>
            <a:lvl7pPr marL="9144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7pPr>
            <a:lvl8pPr marL="13716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8pPr>
            <a:lvl9pPr marL="1828800" algn="r" rtl="0" eaLnBrk="0" fontAlgn="base" hangingPunct="0">
              <a:lnSpc>
                <a:spcPct val="88000"/>
              </a:lnSpc>
              <a:spcBef>
                <a:spcPct val="0"/>
              </a:spcBef>
              <a:spcAft>
                <a:spcPct val="0"/>
              </a:spcAft>
              <a:defRPr sz="3200" b="1">
                <a:solidFill>
                  <a:schemeClr val="tx2"/>
                </a:solidFill>
                <a:latin typeface="Arial" panose="020B0604020202020204" pitchFamily="34" charset="0"/>
              </a:defRPr>
            </a:lvl9pPr>
          </a:lstStyle>
          <a:p>
            <a:pPr marL="0" marR="0" lvl="0" indent="0" algn="ctr" defTabSz="914400" rtl="0" eaLnBrk="0" fontAlgn="base" latinLnBrk="0" hangingPunct="0">
              <a:lnSpc>
                <a:spcPct val="88000"/>
              </a:lnSpc>
              <a:spcBef>
                <a:spcPct val="0"/>
              </a:spcBef>
              <a:spcAft>
                <a:spcPct val="0"/>
              </a:spcAft>
              <a:buClrTx/>
              <a:buSzTx/>
              <a:buFontTx/>
              <a:buNone/>
              <a:defRPr/>
            </a:pPr>
            <a:r>
              <a:rPr kumimoji="0" lang="zh-CN" altLang="en-US"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rPr>
              <a:t>基于</a:t>
            </a:r>
            <a:r>
              <a:rPr kumimoji="0" lang="en-US" altLang="zh-CN"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rPr>
              <a:t>LiDAR</a:t>
            </a:r>
            <a:r>
              <a:rPr kumimoji="0" lang="zh-CN" altLang="en-US"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rPr>
              <a:t>传感器数据实现的</a:t>
            </a:r>
            <a:r>
              <a:rPr kumimoji="0" lang="en-US" altLang="zh-CN"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rPr>
              <a:t>SLAM</a:t>
            </a:r>
            <a:r>
              <a:rPr kumimoji="0" lang="zh-CN" altLang="en-US"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rPr>
              <a:t>算法</a:t>
            </a:r>
            <a:endParaRPr kumimoji="0" lang="en-US" altLang="nl-NL" sz="3200" b="1" i="0" u="none" strike="noStrike" kern="0" cap="none" spc="0" normalizeH="0" baseline="0" noProof="0" dirty="0">
              <a:ln>
                <a:noFill/>
              </a:ln>
              <a:solidFill>
                <a:schemeClr val="bg1">
                  <a:lumMod val="50000"/>
                </a:schemeClr>
              </a:solidFill>
              <a:effectLst/>
              <a:uLnTx/>
              <a:uFillTx/>
              <a:latin typeface="Arial" panose="020B0604020202020204"/>
              <a:ea typeface="+mj-ea"/>
              <a:cs typeface="+mj-cs"/>
            </a:endParaRPr>
          </a:p>
        </p:txBody>
      </p:sp>
      <p:pic>
        <p:nvPicPr>
          <p:cNvPr id="4"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31215" y="3200400"/>
            <a:ext cx="8160385" cy="5084445"/>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FontTx/>
              <a:buNone/>
              <a:defRPr/>
            </a:pPr>
            <a:r>
              <a:rPr lang="en-US" altLang="zh-CN" sz="2000" dirty="0">
                <a:solidFill>
                  <a:srgbClr val="1E355E"/>
                </a:solidFill>
                <a:cs typeface="Times New Roman" panose="02020603050405020304" pitchFamily="18" charset="0"/>
              </a:rPr>
              <a:t>Isaacson S, Kung P C, </a:t>
            </a:r>
            <a:r>
              <a:rPr lang="en-US" altLang="zh-CN" sz="2000" dirty="0" err="1">
                <a:solidFill>
                  <a:srgbClr val="1E355E"/>
                </a:solidFill>
                <a:cs typeface="Times New Roman" panose="02020603050405020304" pitchFamily="18" charset="0"/>
              </a:rPr>
              <a:t>Ramanagopal</a:t>
            </a:r>
            <a:r>
              <a:rPr lang="en-US" altLang="zh-CN" sz="2000" dirty="0">
                <a:solidFill>
                  <a:srgbClr val="1E355E"/>
                </a:solidFill>
                <a:cs typeface="Times New Roman" panose="02020603050405020304" pitchFamily="18" charset="0"/>
              </a:rPr>
              <a:t> M, et al. </a:t>
            </a:r>
            <a:r>
              <a:rPr lang="en-US" altLang="zh-CN" sz="2000" dirty="0">
                <a:solidFill>
                  <a:srgbClr val="FF0000"/>
                </a:solidFill>
                <a:cs typeface="Times New Roman" panose="02020603050405020304" pitchFamily="18" charset="0"/>
              </a:rPr>
              <a:t>Loner: Lidar only neural representations for real-time slam</a:t>
            </a:r>
            <a:r>
              <a:rPr lang="en-US" altLang="zh-CN" sz="2000" dirty="0">
                <a:solidFill>
                  <a:srgbClr val="1E355E"/>
                </a:solidFill>
                <a:cs typeface="Times New Roman" panose="02020603050405020304" pitchFamily="18" charset="0"/>
              </a:rPr>
              <a:t>[J]. IEEE </a:t>
            </a:r>
            <a:r>
              <a:rPr lang="en-US" altLang="zh-CN" sz="2000" dirty="0">
                <a:solidFill>
                  <a:srgbClr val="FF0000"/>
                </a:solidFill>
                <a:cs typeface="Times New Roman" panose="02020603050405020304" pitchFamily="18" charset="0"/>
              </a:rPr>
              <a:t>Robotics and Automation Letters</a:t>
            </a:r>
            <a:r>
              <a:rPr lang="en-US" altLang="zh-CN" sz="2000" dirty="0">
                <a:solidFill>
                  <a:srgbClr val="1E355E"/>
                </a:solidFill>
                <a:cs typeface="Times New Roman" panose="02020603050405020304" pitchFamily="18" charset="0"/>
              </a:rPr>
              <a:t>, </a:t>
            </a:r>
            <a:r>
              <a:rPr lang="en-US" altLang="zh-CN" sz="2000" dirty="0">
                <a:solidFill>
                  <a:srgbClr val="FF0000"/>
                </a:solidFill>
                <a:cs typeface="Times New Roman" panose="02020603050405020304" pitchFamily="18" charset="0"/>
              </a:rPr>
              <a:t>2023</a:t>
            </a:r>
            <a:r>
              <a:rPr lang="en-US" altLang="zh-CN" sz="2000" dirty="0">
                <a:solidFill>
                  <a:srgbClr val="1E355E"/>
                </a:solidFill>
                <a:cs typeface="Times New Roman" panose="02020603050405020304" pitchFamily="18" charset="0"/>
              </a:rPr>
              <a:t>.</a:t>
            </a:r>
          </a:p>
          <a:p>
            <a:pPr marL="0" marR="0" lvl="0" indent="0" defTabSz="914400" rtl="0" eaLnBrk="0" fontAlgn="base" latinLnBrk="0" hangingPunct="0">
              <a:lnSpc>
                <a:spcPct val="100000"/>
              </a:lnSpc>
              <a:spcBef>
                <a:spcPct val="0"/>
              </a:spcBef>
              <a:spcAft>
                <a:spcPts val="900"/>
              </a:spcAft>
              <a:buClrTx/>
              <a:buSzTx/>
              <a:buFontTx/>
              <a:buNone/>
              <a:defRPr/>
            </a:pPr>
            <a:r>
              <a:rPr lang="zh-CN" altLang="en-US" sz="2000" dirty="0">
                <a:solidFill>
                  <a:srgbClr val="1E355E"/>
                </a:solidFill>
                <a:cs typeface="Times New Roman" panose="02020603050405020304" pitchFamily="18" charset="0"/>
              </a:rPr>
              <a:t>论文地址：</a:t>
            </a:r>
            <a:r>
              <a:rPr lang="en-US" altLang="zh-CN" sz="2000" dirty="0">
                <a:solidFill>
                  <a:srgbClr val="1E355E"/>
                </a:solidFill>
                <a:cs typeface="Times New Roman" panose="02020603050405020304" pitchFamily="18" charset="0"/>
                <a:hlinkClick r:id="rId3"/>
              </a:rPr>
              <a:t>https://arxiv.org/pdf/2309.04937v3</a:t>
            </a:r>
            <a:endParaRPr lang="en-US" altLang="zh-CN" sz="2000" dirty="0">
              <a:solidFill>
                <a:srgbClr val="1E355E"/>
              </a:solidFill>
              <a:cs typeface="Times New Roman" panose="02020603050405020304" pitchFamily="18" charset="0"/>
            </a:endParaRPr>
          </a:p>
          <a:p>
            <a:pPr marL="0" marR="0" lvl="0" indent="0" defTabSz="914400" rtl="0" eaLnBrk="0" fontAlgn="base" latinLnBrk="0" hangingPunct="0">
              <a:lnSpc>
                <a:spcPct val="100000"/>
              </a:lnSpc>
              <a:spcBef>
                <a:spcPct val="0"/>
              </a:spcBef>
              <a:spcAft>
                <a:spcPts val="900"/>
              </a:spcAft>
              <a:buClrTx/>
              <a:buSzTx/>
              <a:buFontTx/>
              <a:buNone/>
              <a:defRPr/>
            </a:pPr>
            <a:r>
              <a:rPr lang="zh-CN" altLang="en-US" sz="2000" dirty="0">
                <a:solidFill>
                  <a:srgbClr val="1E355E"/>
                </a:solidFill>
                <a:cs typeface="Times New Roman" panose="02020603050405020304" pitchFamily="18" charset="0"/>
              </a:rPr>
              <a:t>开源代码：</a:t>
            </a:r>
            <a:r>
              <a:rPr lang="en-US" altLang="zh-CN" sz="2000" dirty="0">
                <a:solidFill>
                  <a:srgbClr val="1E355E"/>
                </a:solidFill>
                <a:cs typeface="Times New Roman" panose="02020603050405020304" pitchFamily="18" charset="0"/>
                <a:hlinkClick r:id="rId4"/>
              </a:rPr>
              <a:t>https://github.com/umautobots/LONER</a:t>
            </a:r>
            <a:endParaRPr lang="en-US" altLang="zh-CN" sz="2000" dirty="0">
              <a:solidFill>
                <a:srgbClr val="1E355E"/>
              </a:solidFill>
              <a:cs typeface="Times New Roman" panose="02020603050405020304" pitchFamily="18" charset="0"/>
            </a:endParaRPr>
          </a:p>
          <a:p>
            <a:pPr marL="0" marR="0" lvl="0" indent="0" defTabSz="914400" rtl="0" eaLnBrk="0" fontAlgn="base" latinLnBrk="0" hangingPunct="0">
              <a:lnSpc>
                <a:spcPct val="100000"/>
              </a:lnSpc>
              <a:spcBef>
                <a:spcPct val="0"/>
              </a:spcBef>
              <a:spcAft>
                <a:spcPts val="900"/>
              </a:spcAft>
              <a:buClrTx/>
              <a:buSzTx/>
              <a:buFontTx/>
              <a:buNone/>
              <a:defRPr/>
            </a:pPr>
            <a:endParaRPr lang="en-US" altLang="zh-CN" sz="2000" dirty="0">
              <a:solidFill>
                <a:srgbClr val="1E355E"/>
              </a:solidFill>
              <a:cs typeface="Times New Roman" panose="02020603050405020304" pitchFamily="18" charset="0"/>
            </a:endParaRPr>
          </a:p>
        </p:txBody>
      </p:sp>
      <p:pic>
        <p:nvPicPr>
          <p:cNvPr id="11" name="Picture 2"/>
          <p:cNvPicPr>
            <a:picLocks noChangeAspect="1" noChangeArrowheads="1"/>
          </p:cNvPicPr>
          <p:nvPr/>
        </p:nvPicPr>
        <p:blipFill>
          <a:blip r:embed="rId5"/>
          <a:srcRect/>
          <a:stretch>
            <a:fillRect/>
          </a:stretch>
        </p:blipFill>
        <p:spPr bwMode="auto">
          <a:xfrm>
            <a:off x="152400" y="6083278"/>
            <a:ext cx="2286000" cy="680986"/>
          </a:xfrm>
          <a:prstGeom prst="rect">
            <a:avLst/>
          </a:prstGeom>
          <a:noFill/>
          <a:ln w="9525">
            <a:noFill/>
            <a:miter lim="800000"/>
            <a:headEnd/>
            <a:tailEnd/>
          </a:ln>
        </p:spPr>
      </p:pic>
      <p:sp>
        <p:nvSpPr>
          <p:cNvPr id="3" name="Text Box 19"/>
          <p:cNvSpPr txBox="1">
            <a:spLocks noChangeArrowheads="1"/>
          </p:cNvSpPr>
          <p:nvPr/>
        </p:nvSpPr>
        <p:spPr bwMode="auto">
          <a:xfrm>
            <a:off x="154686" y="163840"/>
            <a:ext cx="8610600" cy="58356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sym typeface="+mn-ea"/>
              </a:rPr>
              <a:t>基线文献选取</a:t>
            </a:r>
            <a:endParaRPr lang="en-US" altLang="zh-CN" sz="2000" dirty="0">
              <a:solidFill>
                <a:schemeClr val="tx2"/>
              </a:solidFill>
              <a:latin typeface="Arial" panose="020B0604020202020204" pitchFamily="34" charset="0"/>
              <a:cs typeface="Times New Roman" panose="02020603050405020304" pitchFamily="18" charset="0"/>
            </a:endParaRPr>
          </a:p>
        </p:txBody>
      </p:sp>
      <p:pic>
        <p:nvPicPr>
          <p:cNvPr id="4" name="图片 3"/>
          <p:cNvPicPr>
            <a:picLocks noChangeAspect="1"/>
          </p:cNvPicPr>
          <p:nvPr/>
        </p:nvPicPr>
        <p:blipFill>
          <a:blip r:embed="rId6"/>
          <a:stretch>
            <a:fillRect/>
          </a:stretch>
        </p:blipFill>
        <p:spPr>
          <a:xfrm>
            <a:off x="933881" y="1357941"/>
            <a:ext cx="7052210" cy="1371600"/>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其它主要参考文献</a:t>
            </a:r>
            <a:endParaRPr lang="en-US" altLang="zh-CN" sz="3200" b="1" dirty="0">
              <a:solidFill>
                <a:schemeClr val="tx2"/>
              </a:solidFill>
              <a:latin typeface="Arial" panose="020B0604020202020204" pitchFamily="34" charset="0"/>
              <a:cs typeface="Times New Roman" panose="02020603050405020304" pitchFamily="18" charset="0"/>
            </a:endParaRPr>
          </a:p>
        </p:txBody>
      </p:sp>
      <p:sp>
        <p:nvSpPr>
          <p:cNvPr id="6" name="文本框 5"/>
          <p:cNvSpPr txBox="1"/>
          <p:nvPr/>
        </p:nvSpPr>
        <p:spPr>
          <a:xfrm>
            <a:off x="491490" y="762000"/>
            <a:ext cx="8160385" cy="5320665"/>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1. </a:t>
            </a:r>
            <a:r>
              <a:rPr lang="zh-CN" altLang="en-US" sz="2400" b="0" i="0" dirty="0">
                <a:solidFill>
                  <a:srgbClr val="222222"/>
                </a:solidFill>
                <a:effectLst/>
                <a:latin typeface="Arial" panose="020B0604020202020204" pitchFamily="34" charset="0"/>
              </a:rPr>
              <a:t>点云配准算法：</a:t>
            </a:r>
            <a:r>
              <a:rPr lang="en-US" altLang="zh-CN" sz="2400" b="0" i="0" dirty="0">
                <a:solidFill>
                  <a:srgbClr val="222222"/>
                </a:solidFill>
                <a:effectLst/>
                <a:latin typeface="Arial" panose="020B0604020202020204" pitchFamily="34" charset="0"/>
              </a:rPr>
              <a:t>ICP Alignment Algorithm</a:t>
            </a:r>
          </a:p>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Rusinkiewicz, Szymon, and Marc Levoy. "Efficient variants of the ICP algorithm." Proceedings third international conference on 3-D digital imaging and modeling. IEEE, 2001.</a:t>
            </a:r>
          </a:p>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2. </a:t>
            </a:r>
            <a:r>
              <a:rPr lang="zh-CN" altLang="en-US" sz="2400" b="0" i="0" dirty="0">
                <a:solidFill>
                  <a:srgbClr val="222222"/>
                </a:solidFill>
                <a:effectLst/>
                <a:latin typeface="Arial" panose="020B0604020202020204" pitchFamily="34" charset="0"/>
              </a:rPr>
              <a:t>基于</a:t>
            </a:r>
            <a:r>
              <a:rPr lang="en-US" altLang="zh-CN" sz="2400" b="0" i="0" dirty="0">
                <a:solidFill>
                  <a:srgbClr val="222222"/>
                </a:solidFill>
                <a:effectLst/>
                <a:latin typeface="Arial" panose="020B0604020202020204" pitchFamily="34" charset="0"/>
              </a:rPr>
              <a:t>LiDAR</a:t>
            </a:r>
            <a:r>
              <a:rPr lang="zh-CN" altLang="en-US" sz="2400" b="0" i="0" dirty="0">
                <a:solidFill>
                  <a:srgbClr val="222222"/>
                </a:solidFill>
                <a:effectLst/>
                <a:latin typeface="Arial" panose="020B0604020202020204" pitchFamily="34" charset="0"/>
              </a:rPr>
              <a:t>的</a:t>
            </a:r>
            <a:r>
              <a:rPr lang="en-US" altLang="zh-CN" sz="2400" b="0" i="0" dirty="0">
                <a:solidFill>
                  <a:srgbClr val="222222"/>
                </a:solidFill>
                <a:effectLst/>
                <a:latin typeface="Arial" panose="020B0604020202020204" pitchFamily="34" charset="0"/>
              </a:rPr>
              <a:t>SLAM</a:t>
            </a:r>
            <a:r>
              <a:rPr lang="zh-CN" altLang="en-US" sz="2400" b="0" i="0" dirty="0">
                <a:solidFill>
                  <a:srgbClr val="222222"/>
                </a:solidFill>
                <a:effectLst/>
                <a:latin typeface="Arial" panose="020B0604020202020204" pitchFamily="34" charset="0"/>
              </a:rPr>
              <a:t>框架：</a:t>
            </a:r>
            <a:r>
              <a:rPr lang="en-US" altLang="zh-CN" sz="2400" b="0" i="0" dirty="0">
                <a:solidFill>
                  <a:srgbClr val="222222"/>
                </a:solidFill>
                <a:effectLst/>
                <a:latin typeface="Arial" panose="020B0604020202020204" pitchFamily="34" charset="0"/>
              </a:rPr>
              <a:t>LeGO-LOAM</a:t>
            </a:r>
          </a:p>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Shan, Tixiao, and Brendan Englot. "Lego-loam: Lightweight and ground-optimized lidar odometry and mapping on variable terrain." 2018 IEEE/RSJ International Conference on Intelligent Robots and Systems (IROS). IEEE, 2018.</a:t>
            </a:r>
          </a:p>
        </p:txBody>
      </p:sp>
    </p:spTree>
  </p:cSld>
  <p:clrMapOvr>
    <a:masterClrMapping/>
  </p:clrMapOv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其它主要参考文献</a:t>
            </a:r>
            <a:endParaRPr lang="en-US" altLang="zh-CN" sz="3200" b="1" dirty="0">
              <a:solidFill>
                <a:schemeClr val="tx2"/>
              </a:solidFill>
              <a:latin typeface="Arial" panose="020B0604020202020204" pitchFamily="34" charset="0"/>
              <a:cs typeface="Times New Roman" panose="02020603050405020304" pitchFamily="18" charset="0"/>
            </a:endParaRPr>
          </a:p>
        </p:txBody>
      </p:sp>
      <p:sp>
        <p:nvSpPr>
          <p:cNvPr id="6" name="文本框 5"/>
          <p:cNvSpPr txBox="1"/>
          <p:nvPr/>
        </p:nvSpPr>
        <p:spPr>
          <a:xfrm>
            <a:off x="491490" y="762000"/>
            <a:ext cx="8160385" cy="5334635"/>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3. </a:t>
            </a:r>
            <a:r>
              <a:rPr lang="zh-CN" altLang="en-US" sz="2400" b="0" i="0" dirty="0">
                <a:solidFill>
                  <a:srgbClr val="222222"/>
                </a:solidFill>
                <a:effectLst/>
                <a:latin typeface="Arial" panose="020B0604020202020204" pitchFamily="34" charset="0"/>
              </a:rPr>
              <a:t>基于</a:t>
            </a:r>
            <a:r>
              <a:rPr lang="en-US" altLang="zh-CN" sz="2400" b="0" i="0" dirty="0">
                <a:solidFill>
                  <a:srgbClr val="222222"/>
                </a:solidFill>
                <a:effectLst/>
                <a:latin typeface="Arial" panose="020B0604020202020204" pitchFamily="34" charset="0"/>
              </a:rPr>
              <a:t>NeRF</a:t>
            </a:r>
            <a:r>
              <a:rPr lang="zh-CN" altLang="en-US" sz="2400" b="0" i="0" dirty="0">
                <a:solidFill>
                  <a:srgbClr val="222222"/>
                </a:solidFill>
                <a:effectLst/>
                <a:latin typeface="Arial" panose="020B0604020202020204" pitchFamily="34" charset="0"/>
              </a:rPr>
              <a:t>的</a:t>
            </a:r>
            <a:r>
              <a:rPr lang="en-US" altLang="zh-CN" sz="2400" b="0" i="0" dirty="0">
                <a:solidFill>
                  <a:srgbClr val="222222"/>
                </a:solidFill>
                <a:effectLst/>
                <a:latin typeface="Arial" panose="020B0604020202020204" pitchFamily="34" charset="0"/>
              </a:rPr>
              <a:t>SLAM</a:t>
            </a:r>
            <a:r>
              <a:rPr lang="zh-CN" altLang="en-US" sz="2400" b="0" i="0" dirty="0">
                <a:solidFill>
                  <a:srgbClr val="222222"/>
                </a:solidFill>
                <a:effectLst/>
                <a:latin typeface="Arial" panose="020B0604020202020204" pitchFamily="34" charset="0"/>
              </a:rPr>
              <a:t>算法：</a:t>
            </a:r>
            <a:r>
              <a:rPr lang="en-US" altLang="zh-CN" sz="2400" b="0" i="0" dirty="0">
                <a:solidFill>
                  <a:srgbClr val="222222"/>
                </a:solidFill>
                <a:effectLst/>
                <a:latin typeface="Arial" panose="020B0604020202020204" pitchFamily="34" charset="0"/>
              </a:rPr>
              <a:t>NICE-SLAM</a:t>
            </a:r>
          </a:p>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Mildenhall, Ben, Pratul P. Srinivasan, Matthew Tancik, Jonathan T. Barron, Ravi Ramamoorthi, and Ren Ng. "NeRF: Representing Scenes as Neural Radiance Fields for View Synthesis." ECCV, 2020.</a:t>
            </a:r>
          </a:p>
          <a:p>
            <a:pPr marL="0" marR="0" lvl="0" indent="0" defTabSz="914400" rtl="0" eaLnBrk="0" fontAlgn="base" latinLnBrk="0" hangingPunct="0">
              <a:lnSpc>
                <a:spcPct val="100000"/>
              </a:lnSpc>
              <a:spcBef>
                <a:spcPct val="0"/>
              </a:spcBef>
              <a:spcAft>
                <a:spcPts val="900"/>
              </a:spcAft>
              <a:buClrTx/>
              <a:buSzTx/>
              <a:buNone/>
              <a:defRPr/>
            </a:pPr>
            <a:r>
              <a:rPr lang="en-US" altLang="zh-CN" sz="2400" b="0" i="0" dirty="0">
                <a:solidFill>
                  <a:srgbClr val="222222"/>
                </a:solidFill>
                <a:effectLst/>
                <a:latin typeface="Arial" panose="020B0604020202020204" pitchFamily="34" charset="0"/>
              </a:rPr>
              <a:t>Zhu, Zihan, Songyou Peng, Viktor Larsson, Weiwei Xu, Hujun Bao, Zhaopeng Cui, Martin R. Oswald, and Marc Pollefeys. "NICE-SLAM: Neural Implicit Scalable Encoding for SLAM." Proceedings of the IEEE/CVF Conference on Computer Vision and Pattern Recognition (CVPR), 2022.</a:t>
            </a:r>
          </a:p>
        </p:txBody>
      </p:sp>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其它主要参考文献</a:t>
            </a:r>
            <a:endParaRPr lang="en-US" altLang="zh-CN" sz="3200" b="1" dirty="0">
              <a:solidFill>
                <a:schemeClr val="tx2"/>
              </a:solidFill>
              <a:latin typeface="Arial" panose="020B0604020202020204" pitchFamily="34" charset="0"/>
              <a:cs typeface="Times New Roman" panose="02020603050405020304" pitchFamily="18" charset="0"/>
            </a:endParaRPr>
          </a:p>
        </p:txBody>
      </p:sp>
      <p:sp>
        <p:nvSpPr>
          <p:cNvPr id="6" name="文本框 5"/>
          <p:cNvSpPr txBox="1"/>
          <p:nvPr/>
        </p:nvSpPr>
        <p:spPr>
          <a:xfrm>
            <a:off x="491807" y="762000"/>
            <a:ext cx="8160385" cy="4834890"/>
          </a:xfrm>
          <a:prstGeom prst="rect">
            <a:avLst/>
          </a:prstGeom>
          <a:noFill/>
        </p:spPr>
        <p:txBody>
          <a:bodyPr wrap="square" rtlCol="0">
            <a:noAutofit/>
          </a:bodyPr>
          <a:lstStyle/>
          <a:p>
            <a:pPr marR="0" lvl="0" defTabSz="914400" rtl="0" eaLnBrk="0" fontAlgn="base" latinLnBrk="0" hangingPunct="0">
              <a:lnSpc>
                <a:spcPct val="100000"/>
              </a:lnSpc>
              <a:spcBef>
                <a:spcPct val="0"/>
              </a:spcBef>
              <a:spcAft>
                <a:spcPts val="900"/>
              </a:spcAft>
              <a:buClrTx/>
              <a:buSzTx/>
              <a:defRPr/>
            </a:pPr>
            <a:r>
              <a:rPr lang="en-US" altLang="zh-CN" b="0" i="0" dirty="0">
                <a:solidFill>
                  <a:srgbClr val="222222"/>
                </a:solidFill>
                <a:effectLst/>
                <a:latin typeface="Arial" panose="020B0604020202020204" pitchFamily="34" charset="0"/>
              </a:rPr>
              <a:t>1.Skuddis D, </a:t>
            </a:r>
            <a:r>
              <a:rPr lang="en-US" altLang="zh-CN" b="0" i="0" dirty="0" err="1">
                <a:solidFill>
                  <a:srgbClr val="222222"/>
                </a:solidFill>
                <a:effectLst/>
                <a:latin typeface="Arial" panose="020B0604020202020204" pitchFamily="34" charset="0"/>
              </a:rPr>
              <a:t>Haala</a:t>
            </a:r>
            <a:r>
              <a:rPr lang="en-US" altLang="zh-CN" b="0" i="0" dirty="0">
                <a:solidFill>
                  <a:srgbClr val="222222"/>
                </a:solidFill>
                <a:effectLst/>
                <a:latin typeface="Arial" panose="020B0604020202020204" pitchFamily="34" charset="0"/>
              </a:rPr>
              <a:t> N. DMSA--Dense Multi Scan Adjustment for LiDAR Inertial Odometry and Global Optimization[J]. </a:t>
            </a:r>
            <a:r>
              <a:rPr lang="en-US" altLang="zh-CN" b="0" i="0" dirty="0" err="1">
                <a:solidFill>
                  <a:srgbClr val="222222"/>
                </a:solidFill>
                <a:effectLst/>
                <a:latin typeface="Arial" panose="020B0604020202020204" pitchFamily="34" charset="0"/>
              </a:rPr>
              <a:t>arXiv</a:t>
            </a:r>
            <a:r>
              <a:rPr lang="en-US" altLang="zh-CN" b="0" i="0" dirty="0">
                <a:solidFill>
                  <a:srgbClr val="222222"/>
                </a:solidFill>
                <a:effectLst/>
                <a:latin typeface="Arial" panose="020B0604020202020204" pitchFamily="34" charset="0"/>
              </a:rPr>
              <a:t> preprint arXiv:2402.19044, 2024.</a:t>
            </a:r>
          </a:p>
          <a:p>
            <a:pPr marR="0" lvl="0" defTabSz="914400" rtl="0" eaLnBrk="0" fontAlgn="base" latinLnBrk="0" hangingPunct="0">
              <a:lnSpc>
                <a:spcPct val="100000"/>
              </a:lnSpc>
              <a:spcBef>
                <a:spcPct val="0"/>
              </a:spcBef>
              <a:spcAft>
                <a:spcPts val="900"/>
              </a:spcAft>
              <a:buClrTx/>
              <a:buSzTx/>
              <a:defRPr/>
            </a:pPr>
            <a:r>
              <a:rPr kumimoji="0" lang="zh-CN" altLang="en-US" u="none" strike="noStrike" kern="1200" cap="none" spc="0" normalizeH="0" baseline="0" noProof="0" dirty="0">
                <a:ln>
                  <a:noFill/>
                </a:ln>
                <a:solidFill>
                  <a:srgbClr val="222222"/>
                </a:solidFill>
                <a:uLnTx/>
                <a:uFillTx/>
                <a:latin typeface="Arial" panose="020B0604020202020204" pitchFamily="34" charset="0"/>
                <a:ea typeface="+mn-ea"/>
                <a:cs typeface="Arial" panose="020B0604020202020204" pitchFamily="34" charset="0"/>
              </a:rPr>
              <a:t>论文地址：</a:t>
            </a:r>
            <a:r>
              <a:rPr kumimoji="0" lang="en-US" altLang="zh-CN" u="none" strike="noStrike" kern="1200" cap="none" spc="0" normalizeH="0" baseline="0" noProof="0" dirty="0">
                <a:ln>
                  <a:noFill/>
                </a:ln>
                <a:solidFill>
                  <a:srgbClr val="222222"/>
                </a:solidFill>
                <a:uLnTx/>
                <a:uFillTx/>
                <a:latin typeface="Arial" panose="020B0604020202020204" pitchFamily="34" charset="0"/>
                <a:ea typeface="+mn-ea"/>
                <a:cs typeface="Arial" panose="020B0604020202020204" pitchFamily="34" charset="0"/>
                <a:hlinkClick r:id="rId4"/>
              </a:rPr>
              <a:t>https://arxiv.org/pdf/2402.19044v2</a:t>
            </a:r>
            <a:endParaRPr kumimoji="0" lang="en-US" altLang="zh-CN" u="none" strike="noStrike" kern="1200" cap="none" spc="0" normalizeH="0" baseline="0" noProof="0" dirty="0">
              <a:ln>
                <a:noFill/>
              </a:ln>
              <a:solidFill>
                <a:srgbClr val="222222"/>
              </a:solidFill>
              <a:uLnTx/>
              <a:uFillTx/>
              <a:latin typeface="Arial" panose="020B0604020202020204" pitchFamily="34" charset="0"/>
              <a:ea typeface="+mn-ea"/>
              <a:cs typeface="Arial" panose="020B0604020202020204" pitchFamily="34" charset="0"/>
            </a:endParaRPr>
          </a:p>
          <a:p>
            <a:pPr marR="0" lvl="0" defTabSz="914400" rtl="0" eaLnBrk="0" fontAlgn="base" latinLnBrk="0" hangingPunct="0">
              <a:lnSpc>
                <a:spcPct val="100000"/>
              </a:lnSpc>
              <a:spcBef>
                <a:spcPct val="0"/>
              </a:spcBef>
              <a:spcAft>
                <a:spcPts val="900"/>
              </a:spcAft>
              <a:buClrTx/>
              <a:buSzTx/>
              <a:defRPr/>
            </a:pPr>
            <a:r>
              <a:rPr lang="zh-CN" altLang="en-US" b="0" i="0" dirty="0">
                <a:solidFill>
                  <a:srgbClr val="222222"/>
                </a:solidFill>
                <a:effectLst/>
                <a:latin typeface="Arial" panose="020B0604020202020204" pitchFamily="34" charset="0"/>
                <a:cs typeface="Arial" panose="020B0604020202020204" pitchFamily="34" charset="0"/>
              </a:rPr>
              <a:t>源码地址：</a:t>
            </a:r>
            <a:r>
              <a:rPr lang="en-US" altLang="zh-CN" b="0" i="0" dirty="0">
                <a:solidFill>
                  <a:srgbClr val="222222"/>
                </a:solidFill>
                <a:effectLst/>
                <a:latin typeface="Arial" panose="020B0604020202020204" pitchFamily="34" charset="0"/>
                <a:cs typeface="Arial" panose="020B0604020202020204" pitchFamily="34" charset="0"/>
              </a:rPr>
              <a:t>https://github.com/davidskdds/DMSA_LiDAR_SLAM.git</a:t>
            </a:r>
            <a:endParaRPr kumimoji="0" lang="en-US" altLang="zh-CN" b="0" i="0" u="none" strike="noStrike" kern="1200" cap="none" spc="0" normalizeH="0" baseline="0" noProof="0" dirty="0">
              <a:ln>
                <a:noFill/>
              </a:ln>
              <a:solidFill>
                <a:srgbClr val="1E355E"/>
              </a:solidFill>
              <a:effectLst/>
              <a:uLnTx/>
              <a:uFillTx/>
              <a:latin typeface="Arial" panose="020B0604020202020204" pitchFamily="34" charset="0"/>
              <a:ea typeface="+mn-ea"/>
              <a:cs typeface="Arial" panose="020B0604020202020204" pitchFamily="34" charset="0"/>
            </a:endParaRPr>
          </a:p>
        </p:txBody>
      </p:sp>
      <p:pic>
        <p:nvPicPr>
          <p:cNvPr id="2" name="图片 1"/>
          <p:cNvPicPr>
            <a:picLocks noChangeAspect="1"/>
          </p:cNvPicPr>
          <p:nvPr/>
        </p:nvPicPr>
        <p:blipFill>
          <a:blip r:embed="rId5"/>
          <a:stretch>
            <a:fillRect/>
          </a:stretch>
        </p:blipFill>
        <p:spPr>
          <a:xfrm>
            <a:off x="2514600" y="2362200"/>
            <a:ext cx="4266261" cy="3866033"/>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3565"/>
          </a:xfrm>
          <a:prstGeom prst="rect">
            <a:avLst/>
          </a:prstGeom>
          <a:noFill/>
          <a:ln w="9525">
            <a:noFill/>
            <a:miter lim="800000"/>
          </a:ln>
        </p:spPr>
        <p:txBody>
          <a:bodyPr wrap="square">
            <a:spAutoFit/>
          </a:bodyPr>
          <a:lstStyle/>
          <a:p>
            <a:pPr eaLnBrk="0" hangingPunct="0">
              <a:spcAft>
                <a:spcPts val="900"/>
              </a:spcAft>
            </a:pPr>
            <a:r>
              <a:rPr lang="en-US" altLang="zh-CN" sz="3200" b="1" dirty="0">
                <a:solidFill>
                  <a:schemeClr val="tx2"/>
                </a:solidFill>
                <a:latin typeface="Arial" panose="020B0604020202020204" pitchFamily="34" charset="0"/>
                <a:cs typeface="Times New Roman" panose="02020603050405020304" pitchFamily="18" charset="0"/>
              </a:rPr>
              <a:t>ICP</a:t>
            </a:r>
            <a:r>
              <a:rPr lang="zh-CN" altLang="en-US" sz="3200" b="1" dirty="0">
                <a:solidFill>
                  <a:schemeClr val="tx2"/>
                </a:solidFill>
                <a:latin typeface="Arial" panose="020B0604020202020204" pitchFamily="34" charset="0"/>
                <a:cs typeface="Times New Roman" panose="02020603050405020304" pitchFamily="18" charset="0"/>
              </a:rPr>
              <a:t>点云配准算法</a:t>
            </a:r>
          </a:p>
        </p:txBody>
      </p:sp>
      <p:pic>
        <p:nvPicPr>
          <p:cNvPr id="2" name="图片 1">
            <a:extLst>
              <a:ext uri="{FF2B5EF4-FFF2-40B4-BE49-F238E27FC236}">
                <a16:creationId xmlns:a16="http://schemas.microsoft.com/office/drawing/2014/main" id="{F058BAEF-E0C6-5A23-7938-04CFD749632C}"/>
              </a:ext>
            </a:extLst>
          </p:cNvPr>
          <p:cNvPicPr>
            <a:picLocks noChangeAspect="1"/>
          </p:cNvPicPr>
          <p:nvPr/>
        </p:nvPicPr>
        <p:blipFill>
          <a:blip r:embed="rId4"/>
          <a:stretch>
            <a:fillRect/>
          </a:stretch>
        </p:blipFill>
        <p:spPr>
          <a:xfrm>
            <a:off x="5448300" y="1524000"/>
            <a:ext cx="3620186" cy="4267200"/>
          </a:xfrm>
          <a:prstGeom prst="rect">
            <a:avLst/>
          </a:prstGeom>
        </p:spPr>
      </p:pic>
      <p:sp>
        <p:nvSpPr>
          <p:cNvPr id="3" name="文本框 2">
            <a:extLst>
              <a:ext uri="{FF2B5EF4-FFF2-40B4-BE49-F238E27FC236}">
                <a16:creationId xmlns:a16="http://schemas.microsoft.com/office/drawing/2014/main" id="{FEA7EBB5-2A6F-44A6-7F53-25BBA0828E7C}"/>
              </a:ext>
            </a:extLst>
          </p:cNvPr>
          <p:cNvSpPr txBox="1"/>
          <p:nvPr/>
        </p:nvSpPr>
        <p:spPr>
          <a:xfrm>
            <a:off x="75514" y="1143000"/>
            <a:ext cx="5276850" cy="4648200"/>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r>
              <a:rPr lang="zh-CN" altLang="en-US" sz="2400" dirty="0">
                <a:solidFill>
                  <a:srgbClr val="222222"/>
                </a:solidFill>
                <a:latin typeface="Arial" panose="020B0604020202020204" pitchFamily="34" charset="0"/>
              </a:rPr>
              <a:t>算法输入：源点云和目标点云，停止迭代的标准</a:t>
            </a:r>
            <a:endParaRPr lang="en-US" altLang="zh-CN" sz="2400" dirty="0">
              <a:solidFill>
                <a:srgbClr val="222222"/>
              </a:solidFill>
              <a:latin typeface="Arial" panose="020B0604020202020204" pitchFamily="34" charset="0"/>
            </a:endParaRPr>
          </a:p>
          <a:p>
            <a:pPr marL="0" marR="0" lvl="0" indent="0" defTabSz="914400" rtl="0" eaLnBrk="0" fontAlgn="base" latinLnBrk="0" hangingPunct="0">
              <a:lnSpc>
                <a:spcPct val="100000"/>
              </a:lnSpc>
              <a:spcBef>
                <a:spcPct val="0"/>
              </a:spcBef>
              <a:spcAft>
                <a:spcPts val="900"/>
              </a:spcAft>
              <a:buClrTx/>
              <a:buSzTx/>
              <a:buNone/>
              <a:defRPr/>
            </a:pPr>
            <a:r>
              <a:rPr lang="zh-CN" altLang="en-US" sz="2400" b="0" i="0" dirty="0">
                <a:solidFill>
                  <a:srgbClr val="222222"/>
                </a:solidFill>
                <a:effectLst/>
                <a:latin typeface="Arial" panose="020B0604020202020204" pitchFamily="34" charset="0"/>
              </a:rPr>
              <a:t>算法输出：转换矩阵</a:t>
            </a:r>
            <a:endParaRPr lang="en-US" altLang="zh-CN" sz="2400" b="0" i="0" dirty="0">
              <a:solidFill>
                <a:srgbClr val="222222"/>
              </a:solidFill>
              <a:effectLst/>
              <a:latin typeface="Arial" panose="020B0604020202020204" pitchFamily="34" charset="0"/>
            </a:endParaRPr>
          </a:p>
          <a:p>
            <a:pPr>
              <a:spcAft>
                <a:spcPts val="900"/>
              </a:spcAft>
              <a:defRPr/>
            </a:pPr>
            <a:r>
              <a:rPr lang="en-US" altLang="zh-CN" sz="2400" dirty="0">
                <a:solidFill>
                  <a:srgbClr val="222222"/>
                </a:solidFill>
                <a:latin typeface="Arial" panose="020B0604020202020204" pitchFamily="34" charset="0"/>
              </a:rPr>
              <a:t>KD Tree</a:t>
            </a:r>
            <a:r>
              <a:rPr lang="zh-CN" altLang="en-US" sz="2400" dirty="0">
                <a:solidFill>
                  <a:srgbClr val="222222"/>
                </a:solidFill>
                <a:latin typeface="Arial" panose="020B0604020202020204" pitchFamily="34" charset="0"/>
              </a:rPr>
              <a:t>的作用：快速最近邻搜索，快速地找到给定点在目标点云中的最近邻点。在</a:t>
            </a:r>
            <a:r>
              <a:rPr lang="en-US" altLang="zh-CN" sz="2400" dirty="0">
                <a:solidFill>
                  <a:srgbClr val="222222"/>
                </a:solidFill>
                <a:latin typeface="Arial" panose="020B0604020202020204" pitchFamily="34" charset="0"/>
              </a:rPr>
              <a:t>ICP</a:t>
            </a:r>
            <a:r>
              <a:rPr lang="zh-CN" altLang="en-US" sz="2400" dirty="0">
                <a:solidFill>
                  <a:srgbClr val="222222"/>
                </a:solidFill>
                <a:latin typeface="Arial" panose="020B0604020202020204" pitchFamily="34" charset="0"/>
              </a:rPr>
              <a:t>算法中，需要为源点云中的每个点找到目标点云中最近的点，</a:t>
            </a:r>
            <a:r>
              <a:rPr lang="en-US" altLang="zh-CN" sz="2400" dirty="0">
                <a:solidFill>
                  <a:srgbClr val="222222"/>
                </a:solidFill>
                <a:latin typeface="Arial" panose="020B0604020202020204" pitchFamily="34" charset="0"/>
              </a:rPr>
              <a:t>KD</a:t>
            </a:r>
            <a:r>
              <a:rPr lang="zh-CN" altLang="en-US" sz="2400" dirty="0">
                <a:solidFill>
                  <a:srgbClr val="222222"/>
                </a:solidFill>
                <a:latin typeface="Arial" panose="020B0604020202020204" pitchFamily="34" charset="0"/>
              </a:rPr>
              <a:t>树使得这一过程变得高效。</a:t>
            </a:r>
            <a:endParaRPr lang="en-US" altLang="zh-CN" sz="2400" dirty="0">
              <a:solidFill>
                <a:srgbClr val="222222"/>
              </a:solidFill>
              <a:latin typeface="Arial" panose="020B0604020202020204" pitchFamily="34" charset="0"/>
            </a:endParaRPr>
          </a:p>
        </p:txBody>
      </p:sp>
    </p:spTree>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3565"/>
          </a:xfrm>
          <a:prstGeom prst="rect">
            <a:avLst/>
          </a:prstGeom>
          <a:noFill/>
          <a:ln w="9525">
            <a:noFill/>
            <a:miter lim="800000"/>
          </a:ln>
        </p:spPr>
        <p:txBody>
          <a:bodyPr wrap="square">
            <a:spAutoFit/>
          </a:bodyPr>
          <a:lstStyle/>
          <a:p>
            <a:pPr eaLnBrk="0" hangingPunct="0">
              <a:spcAft>
                <a:spcPts val="900"/>
              </a:spcAft>
            </a:pPr>
            <a:r>
              <a:rPr lang="en-US" altLang="zh-CN" sz="3200" b="1" dirty="0">
                <a:solidFill>
                  <a:schemeClr val="tx2"/>
                </a:solidFill>
                <a:latin typeface="Arial" panose="020B0604020202020204" pitchFamily="34" charset="0"/>
                <a:cs typeface="Times New Roman" panose="02020603050405020304" pitchFamily="18" charset="0"/>
              </a:rPr>
              <a:t>NeRF</a:t>
            </a:r>
            <a:r>
              <a:rPr lang="zh-CN" altLang="en-US" sz="3200" b="1" dirty="0">
                <a:solidFill>
                  <a:schemeClr val="tx2"/>
                </a:solidFill>
                <a:latin typeface="Arial" panose="020B0604020202020204" pitchFamily="34" charset="0"/>
                <a:cs typeface="Times New Roman" panose="02020603050405020304" pitchFamily="18" charset="0"/>
              </a:rPr>
              <a:t>神经辐射场</a:t>
            </a:r>
          </a:p>
        </p:txBody>
      </p:sp>
      <p:pic>
        <p:nvPicPr>
          <p:cNvPr id="3" name="图片 2">
            <a:extLst>
              <a:ext uri="{FF2B5EF4-FFF2-40B4-BE49-F238E27FC236}">
                <a16:creationId xmlns:a16="http://schemas.microsoft.com/office/drawing/2014/main" id="{5FE30F27-815F-2EB6-3D34-9878EFE4D73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00200" y="812495"/>
            <a:ext cx="5257800" cy="2008479"/>
          </a:xfrm>
          <a:prstGeom prst="rect">
            <a:avLst/>
          </a:prstGeom>
        </p:spPr>
      </p:pic>
      <p:sp>
        <p:nvSpPr>
          <p:cNvPr id="5" name="文本框 4">
            <a:extLst>
              <a:ext uri="{FF2B5EF4-FFF2-40B4-BE49-F238E27FC236}">
                <a16:creationId xmlns:a16="http://schemas.microsoft.com/office/drawing/2014/main" id="{5505493E-2200-3ED7-FF29-F6ABE3F005C0}"/>
              </a:ext>
            </a:extLst>
          </p:cNvPr>
          <p:cNvSpPr txBox="1"/>
          <p:nvPr/>
        </p:nvSpPr>
        <p:spPr>
          <a:xfrm>
            <a:off x="990600" y="3986901"/>
            <a:ext cx="7467600" cy="680986"/>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endParaRPr lang="en-US" altLang="zh-CN" sz="2400" dirty="0">
              <a:solidFill>
                <a:srgbClr val="222222"/>
              </a:solidFill>
              <a:latin typeface="Arial" panose="020B0604020202020204" pitchFamily="34" charset="0"/>
            </a:endParaRPr>
          </a:p>
        </p:txBody>
      </p:sp>
      <p:sp>
        <p:nvSpPr>
          <p:cNvPr id="6" name="文本框 5">
            <a:extLst>
              <a:ext uri="{FF2B5EF4-FFF2-40B4-BE49-F238E27FC236}">
                <a16:creationId xmlns:a16="http://schemas.microsoft.com/office/drawing/2014/main" id="{D33AD8EA-E89C-EDB4-816B-4871BA0B7520}"/>
              </a:ext>
            </a:extLst>
          </p:cNvPr>
          <p:cNvSpPr txBox="1"/>
          <p:nvPr/>
        </p:nvSpPr>
        <p:spPr>
          <a:xfrm>
            <a:off x="990600" y="3124200"/>
            <a:ext cx="7696200" cy="4648200"/>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r>
              <a:rPr lang="en-US" altLang="zh-CN" sz="1600" dirty="0" err="1"/>
              <a:t>NeRF</a:t>
            </a:r>
            <a:r>
              <a:rPr lang="en-US" altLang="zh-CN" sz="1600" dirty="0"/>
              <a:t> </a:t>
            </a:r>
            <a:r>
              <a:rPr lang="zh-CN" altLang="en-US" sz="1600" dirty="0"/>
              <a:t>的思想比较简单，就是通过输入视角的图像每个像素的射线对于密度（不透明度）积分进行体素渲染，然后通过该像素渲染的 </a:t>
            </a:r>
            <a:r>
              <a:rPr lang="en-US" altLang="zh-CN" sz="1600" dirty="0"/>
              <a:t>RGB </a:t>
            </a:r>
            <a:r>
              <a:rPr lang="zh-CN" altLang="en-US" sz="1600" dirty="0"/>
              <a:t>值与真值进行对比作为 </a:t>
            </a:r>
            <a:r>
              <a:rPr lang="en-US" altLang="zh-CN" sz="1600" dirty="0"/>
              <a:t>Loss</a:t>
            </a:r>
            <a:r>
              <a:rPr lang="zh-CN" altLang="en-US" sz="1600" dirty="0"/>
              <a:t>。由于文中设计的体素渲染是完全可微的，因此该网络可学习</a:t>
            </a:r>
            <a:r>
              <a:rPr lang="en-US" altLang="zh-CN" sz="1600" dirty="0"/>
              <a:t>:</a:t>
            </a:r>
            <a:endParaRPr lang="en-US" altLang="zh-CN" sz="2400" dirty="0">
              <a:solidFill>
                <a:srgbClr val="222222"/>
              </a:solidFill>
              <a:latin typeface="Arial" panose="020B0604020202020204" pitchFamily="34" charset="0"/>
            </a:endParaRPr>
          </a:p>
        </p:txBody>
      </p:sp>
      <p:pic>
        <p:nvPicPr>
          <p:cNvPr id="7" name="图片 6">
            <a:extLst>
              <a:ext uri="{FF2B5EF4-FFF2-40B4-BE49-F238E27FC236}">
                <a16:creationId xmlns:a16="http://schemas.microsoft.com/office/drawing/2014/main" id="{E704058D-8FEC-0B32-5DAB-94480E56463D}"/>
              </a:ext>
            </a:extLst>
          </p:cNvPr>
          <p:cNvPicPr>
            <a:picLocks noChangeAspect="1"/>
          </p:cNvPicPr>
          <p:nvPr/>
        </p:nvPicPr>
        <p:blipFill>
          <a:blip r:embed="rId5"/>
          <a:stretch>
            <a:fillRect/>
          </a:stretch>
        </p:blipFill>
        <p:spPr>
          <a:xfrm>
            <a:off x="1371600" y="4062164"/>
            <a:ext cx="5791200" cy="1774408"/>
          </a:xfrm>
          <a:prstGeom prst="rect">
            <a:avLst/>
          </a:prstGeom>
        </p:spPr>
      </p:pic>
    </p:spTree>
  </p:cSld>
  <p:clrMapOvr>
    <a:masterClrMapping/>
  </p:clrMapOv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4" name="Text Box 19"/>
          <p:cNvSpPr txBox="1">
            <a:spLocks noChangeArrowheads="1"/>
          </p:cNvSpPr>
          <p:nvPr/>
        </p:nvSpPr>
        <p:spPr bwMode="auto">
          <a:xfrm>
            <a:off x="152400" y="96784"/>
            <a:ext cx="8610600" cy="58356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传统的基于</a:t>
            </a:r>
            <a:r>
              <a:rPr lang="en-US" altLang="zh-CN" sz="3200" b="1" dirty="0">
                <a:solidFill>
                  <a:schemeClr val="tx2"/>
                </a:solidFill>
                <a:latin typeface="Arial" panose="020B0604020202020204" pitchFamily="34" charset="0"/>
                <a:cs typeface="Times New Roman" panose="02020603050405020304" pitchFamily="18" charset="0"/>
              </a:rPr>
              <a:t>LiDAR</a:t>
            </a:r>
            <a:r>
              <a:rPr lang="zh-CN" altLang="en-US" sz="3200" b="1" dirty="0">
                <a:solidFill>
                  <a:schemeClr val="tx2"/>
                </a:solidFill>
                <a:latin typeface="Arial" panose="020B0604020202020204" pitchFamily="34" charset="0"/>
                <a:cs typeface="Times New Roman" panose="02020603050405020304" pitchFamily="18" charset="0"/>
              </a:rPr>
              <a:t>的</a:t>
            </a:r>
            <a:r>
              <a:rPr lang="en-US" altLang="zh-CN" sz="3200" b="1" dirty="0">
                <a:solidFill>
                  <a:schemeClr val="tx2"/>
                </a:solidFill>
                <a:latin typeface="Arial" panose="020B0604020202020204" pitchFamily="34" charset="0"/>
                <a:cs typeface="Times New Roman" panose="02020603050405020304" pitchFamily="18" charset="0"/>
              </a:rPr>
              <a:t>SLAM</a:t>
            </a:r>
            <a:r>
              <a:rPr lang="zh-CN" altLang="en-US" sz="3200" b="1" dirty="0">
                <a:solidFill>
                  <a:schemeClr val="tx2"/>
                </a:solidFill>
                <a:latin typeface="Arial" panose="020B0604020202020204" pitchFamily="34" charset="0"/>
                <a:cs typeface="Times New Roman" panose="02020603050405020304" pitchFamily="18" charset="0"/>
              </a:rPr>
              <a:t>算法</a:t>
            </a:r>
          </a:p>
        </p:txBody>
      </p:sp>
      <p:pic>
        <p:nvPicPr>
          <p:cNvPr id="3" name="图片 2">
            <a:extLst>
              <a:ext uri="{FF2B5EF4-FFF2-40B4-BE49-F238E27FC236}">
                <a16:creationId xmlns:a16="http://schemas.microsoft.com/office/drawing/2014/main" id="{5E7B1CF7-BF67-E4DC-046F-BFF1FF297AE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447800" y="806899"/>
            <a:ext cx="5638800" cy="2266950"/>
          </a:xfrm>
          <a:prstGeom prst="rect">
            <a:avLst/>
          </a:prstGeom>
        </p:spPr>
      </p:pic>
      <p:sp>
        <p:nvSpPr>
          <p:cNvPr id="5" name="文本框 4">
            <a:extLst>
              <a:ext uri="{FF2B5EF4-FFF2-40B4-BE49-F238E27FC236}">
                <a16:creationId xmlns:a16="http://schemas.microsoft.com/office/drawing/2014/main" id="{ED12F721-7BFF-7CBD-046D-7DD61A154827}"/>
              </a:ext>
            </a:extLst>
          </p:cNvPr>
          <p:cNvSpPr txBox="1"/>
          <p:nvPr/>
        </p:nvSpPr>
        <p:spPr>
          <a:xfrm>
            <a:off x="914400" y="3200399"/>
            <a:ext cx="7696200" cy="2977251"/>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None/>
              <a:defRPr/>
            </a:pPr>
            <a:endParaRPr lang="en-US" altLang="zh-CN" sz="2400" dirty="0">
              <a:solidFill>
                <a:srgbClr val="222222"/>
              </a:solidFill>
              <a:latin typeface="Arial" panose="020B0604020202020204" pitchFamily="34" charset="0"/>
            </a:endParaRPr>
          </a:p>
        </p:txBody>
      </p:sp>
      <p:pic>
        <p:nvPicPr>
          <p:cNvPr id="9" name="图片 8">
            <a:extLst>
              <a:ext uri="{FF2B5EF4-FFF2-40B4-BE49-F238E27FC236}">
                <a16:creationId xmlns:a16="http://schemas.microsoft.com/office/drawing/2014/main" id="{8B6E57E9-943C-848C-3427-29ECF0F90F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166812" y="3187678"/>
            <a:ext cx="6581775" cy="2895600"/>
          </a:xfrm>
          <a:prstGeom prst="rect">
            <a:avLst/>
          </a:prstGeom>
        </p:spPr>
      </p:pic>
    </p:spTree>
  </p:cSld>
  <p:clrMapOvr>
    <a:masterClrMapping/>
  </p:clrMapOv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91807" y="4685337"/>
            <a:ext cx="8160385" cy="4017645"/>
          </a:xfrm>
          <a:prstGeom prst="rect">
            <a:avLst/>
          </a:prstGeom>
          <a:noFill/>
        </p:spPr>
        <p:txBody>
          <a:bodyPr wrap="square" rtlCol="0">
            <a:noAutofit/>
          </a:bodyPr>
          <a:lstStyle/>
          <a:p>
            <a:pPr>
              <a:spcAft>
                <a:spcPts val="900"/>
              </a:spcAft>
              <a:defRPr/>
            </a:pPr>
            <a:r>
              <a:rPr lang="zh-CN" altLang="en-US" sz="2000" dirty="0">
                <a:solidFill>
                  <a:srgbClr val="1E355E"/>
                </a:solidFill>
                <a:cs typeface="Times New Roman" panose="02020603050405020304" pitchFamily="18" charset="0"/>
              </a:rPr>
              <a:t>先来看看</a:t>
            </a:r>
            <a:r>
              <a:rPr lang="en-US" altLang="zh-CN" sz="2000" dirty="0">
                <a:solidFill>
                  <a:srgbClr val="1E355E"/>
                </a:solidFill>
                <a:cs typeface="Times New Roman" panose="02020603050405020304" pitchFamily="18" charset="0"/>
              </a:rPr>
              <a:t>LONER</a:t>
            </a:r>
            <a:r>
              <a:rPr lang="zh-CN" altLang="en-US" sz="2000" dirty="0">
                <a:solidFill>
                  <a:srgbClr val="1E355E"/>
                </a:solidFill>
                <a:cs typeface="Times New Roman" panose="02020603050405020304" pitchFamily="18" charset="0"/>
              </a:rPr>
              <a:t>的建图效果：</a:t>
            </a:r>
            <a:endParaRPr lang="en-US" altLang="zh-CN" sz="2000" dirty="0">
              <a:solidFill>
                <a:srgbClr val="1E355E"/>
              </a:solidFill>
              <a:cs typeface="Times New Roman" panose="02020603050405020304" pitchFamily="18" charset="0"/>
            </a:endParaRPr>
          </a:p>
          <a:p>
            <a:pPr>
              <a:spcAft>
                <a:spcPts val="900"/>
              </a:spcAft>
              <a:defRPr/>
            </a:pPr>
            <a:r>
              <a:rPr lang="zh-CN" altLang="en-US" sz="2000" dirty="0">
                <a:solidFill>
                  <a:srgbClr val="1E355E"/>
                </a:solidFill>
                <a:cs typeface="Times New Roman" panose="02020603050405020304" pitchFamily="18" charset="0"/>
              </a:rPr>
              <a:t>右上角是</a:t>
            </a:r>
            <a:r>
              <a:rPr lang="en-US" altLang="zh-CN" sz="2000" dirty="0">
                <a:solidFill>
                  <a:srgbClr val="1E355E"/>
                </a:solidFill>
                <a:cs typeface="Times New Roman" panose="02020603050405020304" pitchFamily="18" charset="0"/>
              </a:rPr>
              <a:t>Mesh</a:t>
            </a:r>
            <a:r>
              <a:rPr lang="zh-CN" altLang="en-US" sz="2000" dirty="0">
                <a:solidFill>
                  <a:srgbClr val="1E355E"/>
                </a:solidFill>
                <a:cs typeface="Times New Roman" panose="02020603050405020304" pitchFamily="18" charset="0"/>
              </a:rPr>
              <a:t>地图，红色是轨迹，其他图像是新视点合成的深度图。</a:t>
            </a:r>
            <a:r>
              <a:rPr lang="en-US" altLang="zh-CN" sz="2000" dirty="0">
                <a:solidFill>
                  <a:srgbClr val="1E355E"/>
                </a:solidFill>
                <a:cs typeface="Times New Roman" panose="02020603050405020304" pitchFamily="18" charset="0"/>
              </a:rPr>
              <a:t>LONER</a:t>
            </a:r>
            <a:r>
              <a:rPr lang="zh-CN" altLang="en-US" sz="2000" dirty="0">
                <a:solidFill>
                  <a:srgbClr val="1E355E"/>
                </a:solidFill>
                <a:cs typeface="Times New Roman" panose="02020603050405020304" pitchFamily="18" charset="0"/>
              </a:rPr>
              <a:t>在训练</a:t>
            </a:r>
            <a:r>
              <a:rPr lang="en-US" altLang="zh-CN" sz="2000" dirty="0" err="1">
                <a:solidFill>
                  <a:srgbClr val="1E355E"/>
                </a:solidFill>
                <a:cs typeface="Times New Roman" panose="02020603050405020304" pitchFamily="18" charset="0"/>
              </a:rPr>
              <a:t>NeRF</a:t>
            </a:r>
            <a:r>
              <a:rPr lang="zh-CN" altLang="en-US" sz="2000" dirty="0">
                <a:solidFill>
                  <a:srgbClr val="1E355E"/>
                </a:solidFill>
                <a:cs typeface="Times New Roman" panose="02020603050405020304" pitchFamily="18" charset="0"/>
              </a:rPr>
              <a:t>以后，可以将</a:t>
            </a:r>
            <a:r>
              <a:rPr lang="en-US" altLang="zh-CN" sz="2000" dirty="0" err="1">
                <a:solidFill>
                  <a:srgbClr val="1E355E"/>
                </a:solidFill>
                <a:cs typeface="Times New Roman" panose="02020603050405020304" pitchFamily="18" charset="0"/>
              </a:rPr>
              <a:t>NeRF</a:t>
            </a:r>
            <a:r>
              <a:rPr lang="zh-CN" altLang="en-US" sz="2000" dirty="0">
                <a:solidFill>
                  <a:srgbClr val="1E355E"/>
                </a:solidFill>
                <a:cs typeface="Times New Roman" panose="02020603050405020304" pitchFamily="18" charset="0"/>
              </a:rPr>
              <a:t>地图离线渲染为</a:t>
            </a:r>
            <a:r>
              <a:rPr lang="en-US" altLang="zh-CN" sz="2000" dirty="0">
                <a:solidFill>
                  <a:srgbClr val="1E355E"/>
                </a:solidFill>
                <a:cs typeface="Times New Roman" panose="02020603050405020304" pitchFamily="18" charset="0"/>
              </a:rPr>
              <a:t>Mesh</a:t>
            </a:r>
            <a:r>
              <a:rPr lang="zh-CN" altLang="en-US" sz="2000" dirty="0">
                <a:solidFill>
                  <a:srgbClr val="1E355E"/>
                </a:solidFill>
                <a:cs typeface="Times New Roman" panose="02020603050405020304" pitchFamily="18" charset="0"/>
              </a:rPr>
              <a:t>和深度图。</a:t>
            </a:r>
          </a:p>
          <a:p>
            <a:pPr>
              <a:spcAft>
                <a:spcPts val="900"/>
              </a:spcAft>
              <a:defRPr/>
            </a:pPr>
            <a:endParaRPr lang="zh-CN" altLang="en-US" sz="2000" b="0" dirty="0">
              <a:solidFill>
                <a:srgbClr val="CCCCCC"/>
              </a:solidFill>
              <a:effectLst/>
              <a:latin typeface="Consolas" panose="020B0609020204030204" pitchFamily="49" charset="0"/>
            </a:endParaRPr>
          </a:p>
          <a:p>
            <a:pPr>
              <a:spcAft>
                <a:spcPts val="900"/>
              </a:spcAft>
              <a:defRPr/>
            </a:pPr>
            <a:endParaRPr lang="zh-CN" altLang="en-US" sz="2000" b="0" dirty="0">
              <a:solidFill>
                <a:srgbClr val="CCCCCC"/>
              </a:solidFill>
              <a:effectLst/>
              <a:latin typeface="Consolas" panose="020B0609020204030204" pitchFamily="49" charset="0"/>
            </a:endParaRPr>
          </a:p>
          <a:p>
            <a:pPr marL="0" marR="0" lvl="0" indent="0" defTabSz="914400" rtl="0" eaLnBrk="0" fontAlgn="base" latinLnBrk="0" hangingPunct="0">
              <a:lnSpc>
                <a:spcPct val="100000"/>
              </a:lnSpc>
              <a:spcBef>
                <a:spcPct val="0"/>
              </a:spcBef>
              <a:spcAft>
                <a:spcPts val="900"/>
              </a:spcAft>
              <a:buClrTx/>
              <a:buSzTx/>
              <a:buFontTx/>
              <a:buNone/>
              <a:defRPr/>
            </a:pPr>
            <a:endParaRPr lang="en-US" altLang="zh-CN" sz="2000" dirty="0">
              <a:solidFill>
                <a:srgbClr val="1E355E"/>
              </a:solidFill>
              <a:cs typeface="Times New Roman" panose="02020603050405020304" pitchFamily="18" charset="0"/>
            </a:endParaRPr>
          </a:p>
        </p:txBody>
      </p:sp>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3" name="Text Box 19"/>
          <p:cNvSpPr txBox="1">
            <a:spLocks noChangeArrowheads="1"/>
          </p:cNvSpPr>
          <p:nvPr/>
        </p:nvSpPr>
        <p:spPr bwMode="auto">
          <a:xfrm>
            <a:off x="154686" y="163840"/>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sym typeface="+mn-ea"/>
              </a:rPr>
              <a:t>效果展示</a:t>
            </a:r>
            <a:endParaRPr lang="en-US" altLang="zh-CN" sz="2000" dirty="0">
              <a:solidFill>
                <a:schemeClr val="tx2"/>
              </a:solidFill>
              <a:latin typeface="Arial" panose="020B0604020202020204" pitchFamily="34" charset="0"/>
              <a:cs typeface="Times New Roman" panose="02020603050405020304" pitchFamily="18" charset="0"/>
            </a:endParaRPr>
          </a:p>
        </p:txBody>
      </p:sp>
      <p:pic>
        <p:nvPicPr>
          <p:cNvPr id="5" name="图片 4"/>
          <p:cNvPicPr>
            <a:picLocks noChangeAspect="1"/>
          </p:cNvPicPr>
          <p:nvPr/>
        </p:nvPicPr>
        <p:blipFill>
          <a:blip r:embed="rId4"/>
          <a:stretch>
            <a:fillRect/>
          </a:stretch>
        </p:blipFill>
        <p:spPr>
          <a:xfrm>
            <a:off x="1447800" y="894338"/>
            <a:ext cx="5638800" cy="3704561"/>
          </a:xfrm>
          <a:prstGeom prst="rect">
            <a:avLst/>
          </a:prstGeom>
        </p:spPr>
      </p:pic>
    </p:spTree>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3" name="Text Box 19"/>
          <p:cNvSpPr txBox="1">
            <a:spLocks noChangeArrowheads="1"/>
          </p:cNvSpPr>
          <p:nvPr/>
        </p:nvSpPr>
        <p:spPr bwMode="auto">
          <a:xfrm>
            <a:off x="154686" y="163840"/>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选取原因</a:t>
            </a:r>
            <a:endParaRPr lang="en-US" altLang="zh-CN" sz="2000" dirty="0">
              <a:solidFill>
                <a:schemeClr val="tx2"/>
              </a:solidFill>
              <a:latin typeface="Arial" panose="020B0604020202020204" pitchFamily="34" charset="0"/>
              <a:cs typeface="Times New Roman" panose="02020603050405020304" pitchFamily="18" charset="0"/>
            </a:endParaRPr>
          </a:p>
        </p:txBody>
      </p:sp>
      <p:sp>
        <p:nvSpPr>
          <p:cNvPr id="2" name="文本框 1"/>
          <p:cNvSpPr txBox="1"/>
          <p:nvPr/>
        </p:nvSpPr>
        <p:spPr>
          <a:xfrm>
            <a:off x="635381" y="998833"/>
            <a:ext cx="8160385" cy="2049167"/>
          </a:xfrm>
          <a:prstGeom prst="rect">
            <a:avLst/>
          </a:prstGeom>
          <a:noFill/>
        </p:spPr>
        <p:txBody>
          <a:bodyPr wrap="square" rtlCol="0">
            <a:noAutofit/>
          </a:bodyPr>
          <a:lstStyle/>
          <a:p>
            <a:pPr marL="0" marR="0" lvl="0" indent="0" defTabSz="914400" rtl="0" eaLnBrk="0" fontAlgn="base" latinLnBrk="0" hangingPunct="0">
              <a:lnSpc>
                <a:spcPct val="100000"/>
              </a:lnSpc>
              <a:spcBef>
                <a:spcPct val="0"/>
              </a:spcBef>
              <a:spcAft>
                <a:spcPts val="900"/>
              </a:spcAft>
              <a:buClrTx/>
              <a:buSzTx/>
              <a:buFontTx/>
              <a:buNone/>
              <a:defRPr/>
            </a:pPr>
            <a:r>
              <a:rPr lang="en-US" altLang="zh-CN" sz="2000" dirty="0">
                <a:solidFill>
                  <a:srgbClr val="1E355E"/>
                </a:solidFill>
                <a:cs typeface="Times New Roman" panose="02020603050405020304" pitchFamily="18" charset="0"/>
              </a:rPr>
              <a:t>1.</a:t>
            </a:r>
            <a:r>
              <a:rPr lang="zh-CN" altLang="en-US" sz="2000" dirty="0">
                <a:solidFill>
                  <a:srgbClr val="1E355E"/>
                </a:solidFill>
                <a:cs typeface="Times New Roman" panose="02020603050405020304" pitchFamily="18" charset="0"/>
              </a:rPr>
              <a:t>论文仅使用了</a:t>
            </a:r>
            <a:r>
              <a:rPr lang="en-US" altLang="zh-CN" sz="2000" dirty="0">
                <a:solidFill>
                  <a:srgbClr val="1E355E"/>
                </a:solidFill>
                <a:cs typeface="Times New Roman" panose="02020603050405020304" pitchFamily="18" charset="0"/>
              </a:rPr>
              <a:t>LIDAR</a:t>
            </a:r>
            <a:r>
              <a:rPr lang="zh-CN" altLang="en-US" sz="2000" dirty="0">
                <a:solidFill>
                  <a:srgbClr val="1E355E"/>
                </a:solidFill>
                <a:cs typeface="Times New Roman" panose="02020603050405020304" pitchFamily="18" charset="0"/>
              </a:rPr>
              <a:t>数据实现实时定位和建图，与我们本次实验目的相同</a:t>
            </a:r>
            <a:endParaRPr lang="en-US" altLang="zh-CN" sz="2000" dirty="0">
              <a:solidFill>
                <a:srgbClr val="1E355E"/>
              </a:solidFill>
              <a:cs typeface="Times New Roman" panose="02020603050405020304" pitchFamily="18" charset="0"/>
            </a:endParaRPr>
          </a:p>
          <a:p>
            <a:pPr>
              <a:spcAft>
                <a:spcPts val="900"/>
              </a:spcAft>
              <a:defRPr/>
            </a:pPr>
            <a:r>
              <a:rPr lang="en-US" altLang="zh-CN" sz="2000" dirty="0">
                <a:solidFill>
                  <a:srgbClr val="1E355E"/>
                </a:solidFill>
                <a:cs typeface="Times New Roman" panose="02020603050405020304" pitchFamily="18" charset="0"/>
              </a:rPr>
              <a:t>2.</a:t>
            </a:r>
            <a:r>
              <a:rPr lang="zh-CN" altLang="en-US" sz="2000" dirty="0">
                <a:solidFill>
                  <a:srgbClr val="1E355E"/>
                </a:solidFill>
                <a:cs typeface="Times New Roman" panose="02020603050405020304" pitchFamily="18" charset="0"/>
              </a:rPr>
              <a:t>论文中首次使用神经网络，利用有监督的方式训练模型来代替传统的</a:t>
            </a:r>
            <a:r>
              <a:rPr lang="en-US" altLang="zh-CN" sz="2000" dirty="0">
                <a:solidFill>
                  <a:srgbClr val="1E355E"/>
                </a:solidFill>
                <a:cs typeface="Times New Roman" panose="02020603050405020304" pitchFamily="18" charset="0"/>
              </a:rPr>
              <a:t>SLAM</a:t>
            </a:r>
            <a:r>
              <a:rPr lang="zh-CN" altLang="en-US" sz="2000" dirty="0">
                <a:solidFill>
                  <a:srgbClr val="1E355E"/>
                </a:solidFill>
                <a:cs typeface="Times New Roman" panose="02020603050405020304" pitchFamily="18" charset="0"/>
              </a:rPr>
              <a:t>算法，并在</a:t>
            </a:r>
            <a:r>
              <a:rPr lang="en-US" altLang="zh-CN" sz="2000" dirty="0">
                <a:solidFill>
                  <a:srgbClr val="1E355E"/>
                </a:solidFill>
                <a:cs typeface="Times New Roman" panose="02020603050405020304" pitchFamily="18" charset="0"/>
              </a:rPr>
              <a:t>NICE-SLAM</a:t>
            </a:r>
            <a:r>
              <a:rPr lang="zh-CN" altLang="en-US" sz="2000" dirty="0">
                <a:solidFill>
                  <a:srgbClr val="1E355E"/>
                </a:solidFill>
                <a:cs typeface="Times New Roman" panose="02020603050405020304" pitchFamily="18" charset="0"/>
              </a:rPr>
              <a:t>数据集上达到了</a:t>
            </a:r>
            <a:r>
              <a:rPr lang="en-US" altLang="zh-CN" sz="2000" dirty="0">
                <a:solidFill>
                  <a:srgbClr val="1E355E"/>
                </a:solidFill>
                <a:cs typeface="Times New Roman" panose="02020603050405020304" pitchFamily="18" charset="0"/>
              </a:rPr>
              <a:t>SOTA</a:t>
            </a:r>
          </a:p>
          <a:p>
            <a:pPr marL="0" marR="0" lvl="0" indent="0" defTabSz="914400" rtl="0" eaLnBrk="0" fontAlgn="base" latinLnBrk="0" hangingPunct="0">
              <a:lnSpc>
                <a:spcPct val="100000"/>
              </a:lnSpc>
              <a:spcBef>
                <a:spcPct val="0"/>
              </a:spcBef>
              <a:spcAft>
                <a:spcPts val="900"/>
              </a:spcAft>
              <a:buClrTx/>
              <a:buSzTx/>
              <a:buFontTx/>
              <a:buNone/>
              <a:defRPr/>
            </a:pPr>
            <a:endParaRPr lang="en-US" altLang="zh-CN" sz="2000" dirty="0">
              <a:solidFill>
                <a:srgbClr val="1E355E"/>
              </a:solidFill>
              <a:cs typeface="Times New Roman" panose="02020603050405020304" pitchFamily="18" charset="0"/>
            </a:endParaRPr>
          </a:p>
        </p:txBody>
      </p:sp>
      <p:pic>
        <p:nvPicPr>
          <p:cNvPr id="7" name="图片 6"/>
          <p:cNvPicPr>
            <a:picLocks noChangeAspect="1"/>
          </p:cNvPicPr>
          <p:nvPr/>
        </p:nvPicPr>
        <p:blipFill>
          <a:blip r:embed="rId4"/>
          <a:stretch>
            <a:fillRect/>
          </a:stretch>
        </p:blipFill>
        <p:spPr>
          <a:xfrm>
            <a:off x="252421" y="3048000"/>
            <a:ext cx="8415130" cy="2286000"/>
          </a:xfrm>
          <a:prstGeom prst="rect">
            <a:avLst/>
          </a:prstGeom>
        </p:spPr>
      </p:pic>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2"/>
          <p:cNvPicPr>
            <a:picLocks noChangeAspect="1" noChangeArrowheads="1"/>
          </p:cNvPicPr>
          <p:nvPr/>
        </p:nvPicPr>
        <p:blipFill>
          <a:blip r:embed="rId3"/>
          <a:srcRect/>
          <a:stretch>
            <a:fillRect/>
          </a:stretch>
        </p:blipFill>
        <p:spPr bwMode="auto">
          <a:xfrm>
            <a:off x="152400" y="6083278"/>
            <a:ext cx="2286000" cy="680986"/>
          </a:xfrm>
          <a:prstGeom prst="rect">
            <a:avLst/>
          </a:prstGeom>
          <a:noFill/>
          <a:ln w="9525">
            <a:noFill/>
            <a:miter lim="800000"/>
            <a:headEnd/>
            <a:tailEnd/>
          </a:ln>
        </p:spPr>
      </p:pic>
      <p:sp>
        <p:nvSpPr>
          <p:cNvPr id="3" name="Text Box 19"/>
          <p:cNvSpPr txBox="1">
            <a:spLocks noChangeArrowheads="1"/>
          </p:cNvSpPr>
          <p:nvPr/>
        </p:nvSpPr>
        <p:spPr bwMode="auto">
          <a:xfrm>
            <a:off x="154686" y="163840"/>
            <a:ext cx="8610600" cy="584775"/>
          </a:xfrm>
          <a:prstGeom prst="rect">
            <a:avLst/>
          </a:prstGeom>
          <a:noFill/>
          <a:ln w="9525">
            <a:noFill/>
            <a:miter lim="800000"/>
          </a:ln>
        </p:spPr>
        <p:txBody>
          <a:bodyPr wrap="square">
            <a:spAutoFit/>
          </a:bodyPr>
          <a:lstStyle/>
          <a:p>
            <a:pPr eaLnBrk="0" hangingPunct="0">
              <a:spcAft>
                <a:spcPts val="900"/>
              </a:spcAft>
            </a:pPr>
            <a:r>
              <a:rPr lang="zh-CN" altLang="en-US" sz="3200" b="1" dirty="0">
                <a:solidFill>
                  <a:schemeClr val="tx2"/>
                </a:solidFill>
                <a:latin typeface="Arial" panose="020B0604020202020204" pitchFamily="34" charset="0"/>
                <a:cs typeface="Times New Roman" panose="02020603050405020304" pitchFamily="18" charset="0"/>
              </a:rPr>
              <a:t>预期目标</a:t>
            </a:r>
            <a:endParaRPr lang="en-US" altLang="zh-CN" sz="2000" dirty="0">
              <a:solidFill>
                <a:schemeClr val="tx2"/>
              </a:solidFill>
              <a:latin typeface="Arial" panose="020B0604020202020204" pitchFamily="34" charset="0"/>
              <a:cs typeface="Times New Roman" panose="02020603050405020304" pitchFamily="18" charset="0"/>
            </a:endParaRPr>
          </a:p>
        </p:txBody>
      </p:sp>
      <p:sp>
        <p:nvSpPr>
          <p:cNvPr id="4" name="文本框 3"/>
          <p:cNvSpPr txBox="1"/>
          <p:nvPr/>
        </p:nvSpPr>
        <p:spPr>
          <a:xfrm>
            <a:off x="492125" y="998855"/>
            <a:ext cx="8160385" cy="5084445"/>
          </a:xfrm>
          <a:prstGeom prst="rect">
            <a:avLst/>
          </a:prstGeom>
          <a:noFill/>
        </p:spPr>
        <p:txBody>
          <a:bodyPr wrap="square" rtlCol="0">
            <a:noAutofit/>
          </a:bodyPr>
          <a:lstStyle/>
          <a:p>
            <a:pPr>
              <a:spcAft>
                <a:spcPts val="900"/>
              </a:spcAft>
              <a:defRPr/>
            </a:pPr>
            <a:r>
              <a:rPr lang="en-US" altLang="zh-CN" sz="2000" dirty="0">
                <a:solidFill>
                  <a:srgbClr val="1E355E"/>
                </a:solidFill>
                <a:cs typeface="Times New Roman" panose="02020603050405020304" pitchFamily="18" charset="0"/>
              </a:rPr>
              <a:t>1.</a:t>
            </a:r>
            <a:r>
              <a:rPr lang="zh-CN" altLang="en-US" sz="2000" dirty="0">
                <a:solidFill>
                  <a:srgbClr val="1E355E"/>
                </a:solidFill>
                <a:cs typeface="Times New Roman" panose="02020603050405020304" pitchFamily="18" charset="0"/>
              </a:rPr>
              <a:t>尝试替代论文中提出的神经网络模型中的模块，并进行训练和测试查看实际效果</a:t>
            </a:r>
            <a:endParaRPr lang="en-US" altLang="zh-CN" sz="2000" dirty="0">
              <a:solidFill>
                <a:srgbClr val="1E355E"/>
              </a:solidFill>
              <a:cs typeface="Times New Roman" panose="02020603050405020304" pitchFamily="18" charset="0"/>
            </a:endParaRPr>
          </a:p>
          <a:p>
            <a:pPr>
              <a:spcAft>
                <a:spcPts val="900"/>
              </a:spcAft>
              <a:defRPr/>
            </a:pPr>
            <a:r>
              <a:rPr lang="en-US" altLang="zh-CN" sz="2000" dirty="0">
                <a:solidFill>
                  <a:srgbClr val="1E355E"/>
                </a:solidFill>
                <a:cs typeface="Times New Roman" panose="02020603050405020304" pitchFamily="18" charset="0"/>
              </a:rPr>
              <a:t>2.</a:t>
            </a:r>
            <a:r>
              <a:rPr lang="zh-CN" altLang="en-US" sz="2000" dirty="0">
                <a:solidFill>
                  <a:srgbClr val="1E355E"/>
                </a:solidFill>
                <a:cs typeface="Times New Roman" panose="02020603050405020304" pitchFamily="18" charset="0"/>
              </a:rPr>
              <a:t>在上一步的基础上尝试修改或添加新的</a:t>
            </a:r>
            <a:r>
              <a:rPr lang="en-US" altLang="zh-CN" sz="2000" dirty="0">
                <a:solidFill>
                  <a:srgbClr val="1E355E"/>
                </a:solidFill>
                <a:cs typeface="Times New Roman" panose="02020603050405020304" pitchFamily="18" charset="0"/>
              </a:rPr>
              <a:t>Loss Function</a:t>
            </a:r>
            <a:r>
              <a:rPr lang="zh-CN" altLang="en-US" sz="2000" dirty="0">
                <a:solidFill>
                  <a:srgbClr val="1E355E"/>
                </a:solidFill>
                <a:cs typeface="Times New Roman" panose="02020603050405020304" pitchFamily="18" charset="0"/>
              </a:rPr>
              <a:t>，让模型达到更好的收敛效果</a:t>
            </a:r>
          </a:p>
          <a:p>
            <a:pPr>
              <a:spcAft>
                <a:spcPts val="900"/>
              </a:spcAft>
              <a:defRPr/>
            </a:pPr>
            <a:r>
              <a:rPr lang="en-US" altLang="zh-CN" sz="2000" dirty="0">
                <a:solidFill>
                  <a:srgbClr val="1E355E"/>
                </a:solidFill>
                <a:cs typeface="Times New Roman" panose="02020603050405020304" pitchFamily="18" charset="0"/>
              </a:rPr>
              <a:t>3.</a:t>
            </a:r>
            <a:r>
              <a:rPr lang="zh-CN" altLang="en-US" sz="2000" dirty="0">
                <a:solidFill>
                  <a:srgbClr val="1E355E"/>
                </a:solidFill>
                <a:cs typeface="Times New Roman" panose="02020603050405020304" pitchFamily="18" charset="0"/>
              </a:rPr>
              <a:t>尝试添加多模态，扩展原本的神经网络，加入</a:t>
            </a:r>
            <a:r>
              <a:rPr lang="en-US" altLang="zh-CN" sz="2000" dirty="0">
                <a:solidFill>
                  <a:srgbClr val="1E355E"/>
                </a:solidFill>
                <a:cs typeface="Times New Roman" panose="02020603050405020304" pitchFamily="18" charset="0"/>
              </a:rPr>
              <a:t>IMU</a:t>
            </a:r>
            <a:r>
              <a:rPr lang="zh-CN" altLang="en-US" sz="2000" dirty="0">
                <a:solidFill>
                  <a:srgbClr val="1E355E"/>
                </a:solidFill>
                <a:cs typeface="Times New Roman" panose="02020603050405020304" pitchFamily="18" charset="0"/>
              </a:rPr>
              <a:t>、</a:t>
            </a:r>
            <a:r>
              <a:rPr lang="en-US" altLang="zh-CN" sz="2000" dirty="0">
                <a:solidFill>
                  <a:srgbClr val="1E355E"/>
                </a:solidFill>
                <a:cs typeface="Times New Roman" panose="02020603050405020304" pitchFamily="18" charset="0"/>
              </a:rPr>
              <a:t>RGB</a:t>
            </a:r>
            <a:r>
              <a:rPr lang="zh-CN" altLang="en-US" sz="2000" dirty="0">
                <a:solidFill>
                  <a:srgbClr val="1E355E"/>
                </a:solidFill>
                <a:cs typeface="Times New Roman" panose="02020603050405020304" pitchFamily="18" charset="0"/>
              </a:rPr>
              <a:t>等数据，提升模型鲁棒性</a:t>
            </a:r>
          </a:p>
          <a:p>
            <a:pPr>
              <a:spcAft>
                <a:spcPts val="900"/>
              </a:spcAft>
              <a:defRPr/>
            </a:pPr>
            <a:endParaRPr lang="zh-CN" altLang="en-US" sz="2000" b="0" dirty="0">
              <a:solidFill>
                <a:srgbClr val="CCCCCC"/>
              </a:solidFill>
              <a:effectLst/>
              <a:latin typeface="Consolas" panose="020B0609020204030204" pitchFamily="49" charset="0"/>
            </a:endParaRPr>
          </a:p>
          <a:p>
            <a:pPr marL="0" marR="0" lvl="0" indent="0" defTabSz="914400" rtl="0" eaLnBrk="0" fontAlgn="base" latinLnBrk="0" hangingPunct="0">
              <a:lnSpc>
                <a:spcPct val="100000"/>
              </a:lnSpc>
              <a:spcBef>
                <a:spcPct val="0"/>
              </a:spcBef>
              <a:spcAft>
                <a:spcPts val="900"/>
              </a:spcAft>
              <a:buClrTx/>
              <a:buSzTx/>
              <a:buFontTx/>
              <a:buNone/>
              <a:defRPr/>
            </a:pPr>
            <a:endParaRPr kumimoji="0" lang="en-US" altLang="zh-CN" sz="2000" b="0" i="0" u="none" strike="noStrike" kern="1200" cap="none" spc="0" normalizeH="0" baseline="0" noProof="0" dirty="0">
              <a:ln>
                <a:noFill/>
              </a:ln>
              <a:solidFill>
                <a:srgbClr val="1E355E"/>
              </a:solidFill>
              <a:effectLst/>
              <a:uLnTx/>
              <a:uFillTx/>
              <a:latin typeface="Arial" panose="020B0604020202020204" pitchFamily="34" charset="0"/>
              <a:ea typeface="+mn-ea"/>
              <a:cs typeface="Times New Roman" panose="02020603050405020304" pitchFamily="18" charset="0"/>
            </a:endParaRPr>
          </a:p>
        </p:txBody>
      </p:sp>
    </p:spTree>
  </p:cSld>
  <p:clrMapOvr>
    <a:masterClrMapping/>
  </p:clrMapOvr>
  <p:transition/>
</p:sld>
</file>

<file path=ppt/theme/theme1.xml><?xml version="1.0" encoding="utf-8"?>
<a:theme xmlns:a="http://schemas.openxmlformats.org/drawingml/2006/main" name="1_Default Design">
  <a:themeElements>
    <a:clrScheme name="">
      <a:dk1>
        <a:srgbClr val="1E355E"/>
      </a:dk1>
      <a:lt1>
        <a:srgbClr val="333399"/>
      </a:lt1>
      <a:dk2>
        <a:srgbClr val="1E355E"/>
      </a:dk2>
      <a:lt2>
        <a:srgbClr val="B1C6D7"/>
      </a:lt2>
      <a:accent1>
        <a:srgbClr val="8499A5"/>
      </a:accent1>
      <a:accent2>
        <a:srgbClr val="B61E5C"/>
      </a:accent2>
      <a:accent3>
        <a:srgbClr val="ADADCA"/>
      </a:accent3>
      <a:accent4>
        <a:srgbClr val="182C4F"/>
      </a:accent4>
      <a:accent5>
        <a:srgbClr val="C2CACF"/>
      </a:accent5>
      <a:accent6>
        <a:srgbClr val="A51A53"/>
      </a:accent6>
      <a:hlink>
        <a:srgbClr val="634D94"/>
      </a:hlink>
      <a:folHlink>
        <a:srgbClr val="3A8268"/>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25400" cap="flat" cmpd="sng" algn="ctr">
          <a:solidFill>
            <a:schemeClr val="bg1"/>
          </a:solidFill>
          <a:prstDash val="solid"/>
          <a:round/>
          <a:headEnd type="none" w="med" len="med"/>
          <a:tailEnd type="triangle" w="med" len="med"/>
        </a:ln>
      </a:spPr>
      <a:bodyPr vert="horz" wrap="none" lIns="91440" tIns="45720" rIns="91440" bIns="45720" numCol="1" anchor="ctr" anchorCtr="0" compatLnSpc="1"/>
      <a:lstStyle>
        <a:defPPr marL="0" marR="0" indent="0" algn="l" defTabSz="914400" rtl="0" eaLnBrk="0" fontAlgn="base" latinLnBrk="0" hangingPunct="0">
          <a:lnSpc>
            <a:spcPct val="88000"/>
          </a:lnSpc>
          <a:spcBef>
            <a:spcPct val="30000"/>
          </a:spcBef>
          <a:spcAft>
            <a:spcPct val="0"/>
          </a:spcAft>
          <a:buClrTx/>
          <a:buSzTx/>
          <a:buFontTx/>
          <a:buNone/>
          <a:defRPr kumimoji="0" lang="en-US" altLang="en-US" sz="2400" b="0" i="0" u="none" strike="noStrike" cap="none" normalizeH="0" baseline="0" smtClean="0">
            <a:ln>
              <a:noFill/>
            </a:ln>
            <a:solidFill>
              <a:schemeClr val="tx1"/>
            </a:solidFill>
            <a:effectLst/>
            <a:latin typeface="Arial" panose="020B0604020202020204" pitchFamily="34" charset="0"/>
          </a:defRPr>
        </a:defPPr>
      </a:lstStyle>
    </a:spDef>
    <a:lnDef>
      <a:spPr bwMode="auto">
        <a:xfrm>
          <a:off x="0" y="0"/>
          <a:ext cx="1" cy="1"/>
        </a:xfrm>
        <a:custGeom>
          <a:avLst/>
          <a:gdLst/>
          <a:ahLst/>
          <a:cxnLst/>
          <a:rect l="0" t="0" r="0" b="0"/>
          <a:pathLst/>
        </a:custGeom>
        <a:noFill/>
        <a:ln w="25400" cap="flat" cmpd="sng" algn="ctr">
          <a:solidFill>
            <a:schemeClr val="bg1"/>
          </a:solidFill>
          <a:prstDash val="solid"/>
          <a:round/>
          <a:headEnd type="none" w="med" len="med"/>
          <a:tailEnd type="triangle" w="med" len="med"/>
        </a:ln>
      </a:spPr>
      <a:bodyPr vert="horz" wrap="none" lIns="91440" tIns="45720" rIns="91440" bIns="45720" numCol="1" anchor="ctr" anchorCtr="0" compatLnSpc="1"/>
      <a:lstStyle>
        <a:defPPr marL="0" marR="0" indent="0" algn="l" defTabSz="914400" rtl="0" eaLnBrk="0" fontAlgn="base" latinLnBrk="0" hangingPunct="0">
          <a:lnSpc>
            <a:spcPct val="88000"/>
          </a:lnSpc>
          <a:spcBef>
            <a:spcPct val="30000"/>
          </a:spcBef>
          <a:spcAft>
            <a:spcPct val="0"/>
          </a:spcAft>
          <a:buClrTx/>
          <a:buSzTx/>
          <a:buFontTx/>
          <a:buNone/>
          <a:defRPr kumimoji="0" lang="en-US" altLang="en-US" sz="2400" b="0" i="0" u="none" strike="noStrike" cap="none" normalizeH="0" baseline="0" smtClean="0">
            <a:ln>
              <a:noFill/>
            </a:ln>
            <a:solidFill>
              <a:schemeClr val="tx1"/>
            </a:solidFill>
            <a:effectLst/>
            <a:latin typeface="Arial" panose="020B0604020202020204" pitchFamily="34" charset="0"/>
          </a:defRPr>
        </a:defPPr>
      </a:lstStyle>
    </a:lnDef>
  </a:objectDefaults>
  <a:extraClrSchemeLst>
    <a:extraClrScheme>
      <a:clrScheme name="Default Design 1">
        <a:dk1>
          <a:srgbClr val="1E355E"/>
        </a:dk1>
        <a:lt1>
          <a:srgbClr val="FFFFFF"/>
        </a:lt1>
        <a:dk2>
          <a:srgbClr val="1E355E"/>
        </a:dk2>
        <a:lt2>
          <a:srgbClr val="B1C6D7"/>
        </a:lt2>
        <a:accent1>
          <a:srgbClr val="8499A5"/>
        </a:accent1>
        <a:accent2>
          <a:srgbClr val="B61E5C"/>
        </a:accent2>
        <a:accent3>
          <a:srgbClr val="FFFFFF"/>
        </a:accent3>
        <a:accent4>
          <a:srgbClr val="182C4F"/>
        </a:accent4>
        <a:accent5>
          <a:srgbClr val="C2CACF"/>
        </a:accent5>
        <a:accent6>
          <a:srgbClr val="A51A53"/>
        </a:accent6>
        <a:hlink>
          <a:srgbClr val="634D94"/>
        </a:hlink>
        <a:folHlink>
          <a:srgbClr val="3A8268"/>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slides</Template>
  <TotalTime>0</TotalTime>
  <Words>1641</Words>
  <Application>Microsoft Office PowerPoint</Application>
  <PresentationFormat>全屏显示(4:3)</PresentationFormat>
  <Paragraphs>70</Paragraphs>
  <Slides>11</Slides>
  <Notes>11</Notes>
  <HiddenSlides>1</HiddenSlides>
  <MMClips>0</MMClips>
  <ScaleCrop>false</ScaleCrop>
  <HeadingPairs>
    <vt:vector size="6" baseType="variant">
      <vt:variant>
        <vt:lpstr>已用的字体</vt:lpstr>
      </vt:variant>
      <vt:variant>
        <vt:i4>7</vt:i4>
      </vt:variant>
      <vt:variant>
        <vt:lpstr>主题</vt:lpstr>
      </vt:variant>
      <vt:variant>
        <vt:i4>1</vt:i4>
      </vt:variant>
      <vt:variant>
        <vt:lpstr>幻灯片标题</vt:lpstr>
      </vt:variant>
      <vt:variant>
        <vt:i4>11</vt:i4>
      </vt:variant>
    </vt:vector>
  </HeadingPairs>
  <TitlesOfParts>
    <vt:vector size="19" baseType="lpstr">
      <vt:lpstr>黑体</vt:lpstr>
      <vt:lpstr>宋体</vt:lpstr>
      <vt:lpstr>Arial</vt:lpstr>
      <vt:lpstr>Calibri</vt:lpstr>
      <vt:lpstr>Consolas</vt:lpstr>
      <vt:lpstr>Times New Roman</vt:lpstr>
      <vt:lpstr>Wingdings</vt:lpstr>
      <vt:lpstr>1_Default Design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100</cp:revision>
  <dcterms:created xsi:type="dcterms:W3CDTF">2009-10-07T20:41:00Z</dcterms:created>
  <dcterms:modified xsi:type="dcterms:W3CDTF">2024-12-16T15:49:45Z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D2AEE7570922471BB61A6A2279EFCCD9_13</vt:lpwstr>
  </property>
  <property fmtid="{D5CDD505-2E9C-101B-9397-08002B2CF9AE}" pid="3" name="KSOProductBuildVer">
    <vt:lpwstr>2052-12.1.0.19302</vt:lpwstr>
  </property>
</Properties>
</file>