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500" r:id="rId2"/>
    <p:sldId id="839" r:id="rId3"/>
    <p:sldId id="845" r:id="rId4"/>
    <p:sldId id="842" r:id="rId5"/>
    <p:sldId id="843" r:id="rId6"/>
    <p:sldId id="844" r:id="rId7"/>
    <p:sldId id="846" r:id="rId8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4" userDrawn="1">
          <p15:clr>
            <a:srgbClr val="A4A3A4"/>
          </p15:clr>
        </p15:guide>
        <p15:guide id="2" pos="280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15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52" autoAdjust="0"/>
    <p:restoredTop sz="61093" autoAdjust="0"/>
  </p:normalViewPr>
  <p:slideViewPr>
    <p:cSldViewPr showGuides="1">
      <p:cViewPr varScale="1">
        <p:scale>
          <a:sx n="51" d="100"/>
          <a:sy n="51" d="100"/>
        </p:scale>
        <p:origin x="1338" y="60"/>
      </p:cViewPr>
      <p:guideLst>
        <p:guide orient="horz" pos="554"/>
        <p:guide pos="28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74"/>
    </p:cViewPr>
  </p:sorterViewPr>
  <p:notesViewPr>
    <p:cSldViewPr>
      <p:cViewPr>
        <p:scale>
          <a:sx n="150" d="100"/>
          <a:sy n="150" d="100"/>
        </p:scale>
        <p:origin x="-72" y="2484"/>
      </p:cViewPr>
      <p:guideLst>
        <p:guide orient="horz" pos="2924"/>
        <p:guide pos="215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2125" cy="463550"/>
          </a:xfrm>
          <a:prstGeom prst="rect">
            <a:avLst/>
          </a:prstGeom>
        </p:spPr>
        <p:txBody>
          <a:bodyPr vert="horz" lIns="93026" tIns="46513" rIns="93026" bIns="4651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63988" y="0"/>
            <a:ext cx="3032125" cy="463550"/>
          </a:xfrm>
          <a:prstGeom prst="rect">
            <a:avLst/>
          </a:prstGeom>
        </p:spPr>
        <p:txBody>
          <a:bodyPr vert="horz" lIns="93026" tIns="46513" rIns="93026" bIns="4651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F3B64D1-AAD5-A140-80D0-6BB9E0483844}" type="datetimeFigureOut">
              <a:rPr lang="it-IT"/>
              <a:t>16/12/2024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18563"/>
            <a:ext cx="3032125" cy="463550"/>
          </a:xfrm>
          <a:prstGeom prst="rect">
            <a:avLst/>
          </a:prstGeom>
        </p:spPr>
        <p:txBody>
          <a:bodyPr vert="horz" lIns="93026" tIns="46513" rIns="93026" bIns="4651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63988" y="8818563"/>
            <a:ext cx="3032125" cy="463550"/>
          </a:xfrm>
          <a:prstGeom prst="rect">
            <a:avLst/>
          </a:prstGeom>
        </p:spPr>
        <p:txBody>
          <a:bodyPr vert="horz" lIns="93026" tIns="46513" rIns="93026" bIns="46513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D3847EC-CB7F-7D45-8DD9-6177710C3A82}" type="slidenum">
              <a:rPr lang="it-IT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2125" cy="463550"/>
          </a:xfrm>
          <a:prstGeom prst="rect">
            <a:avLst/>
          </a:prstGeom>
        </p:spPr>
        <p:txBody>
          <a:bodyPr vert="horz" lIns="93026" tIns="46513" rIns="93026" bIns="4651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3988" y="0"/>
            <a:ext cx="3032125" cy="463550"/>
          </a:xfrm>
          <a:prstGeom prst="rect">
            <a:avLst/>
          </a:prstGeom>
        </p:spPr>
        <p:txBody>
          <a:bodyPr vert="horz" lIns="93026" tIns="46513" rIns="93026" bIns="4651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16B90E-A14D-8B4B-A113-4F8128E40D0E}" type="datetimeFigureOut">
              <a:rPr lang="it-IT"/>
              <a:t>16/12/2024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38675" cy="3479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026" tIns="46513" rIns="93026" bIns="46513" rtlCol="0" anchor="ctr"/>
          <a:lstStyle/>
          <a:p>
            <a:pPr lvl="0"/>
            <a:endParaRPr lang="it-IT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vert="horz" lIns="93026" tIns="46513" rIns="93026" bIns="4651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it-IT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8563"/>
            <a:ext cx="3032125" cy="463550"/>
          </a:xfrm>
          <a:prstGeom prst="rect">
            <a:avLst/>
          </a:prstGeom>
        </p:spPr>
        <p:txBody>
          <a:bodyPr vert="horz" lIns="93026" tIns="46513" rIns="93026" bIns="4651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3988" y="8818563"/>
            <a:ext cx="3032125" cy="463550"/>
          </a:xfrm>
          <a:prstGeom prst="rect">
            <a:avLst/>
          </a:prstGeom>
        </p:spPr>
        <p:txBody>
          <a:bodyPr vert="horz" lIns="93026" tIns="46513" rIns="93026" bIns="46513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2BFB311-CEB4-4042-9D98-99481829B1DD}" type="slidenum">
              <a:rPr lang="it-IT"/>
              <a:t>‹#›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DD7B-2EBD-466F-B277-0EDC35A7E7C2}" type="slidenum">
              <a:rPr lang="it-IT" smtClean="0"/>
              <a:t>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DD7B-2EBD-466F-B277-0EDC35A7E7C2}" type="slidenum">
              <a:rPr lang="it-IT" smtClean="0"/>
              <a:t>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4186A-9A3A-6297-9B8B-819A34EE0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41CAEC-C80A-CE74-B656-499076DD39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3585F-37B2-9E5E-7327-F9CB70A84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A592E-9E71-FE20-7C2C-1057F146A1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DD7B-2EBD-466F-B277-0EDC35A7E7C2}" type="slidenum">
              <a:rPr lang="it-IT" smtClean="0"/>
              <a:t>3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90A47-F6FA-9748-0367-E1C7AF7C9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3647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DD7B-2EBD-466F-B277-0EDC35A7E7C2}" type="slidenum">
              <a:rPr lang="it-IT" smtClean="0"/>
              <a:t>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DD7B-2EBD-466F-B277-0EDC35A7E7C2}" type="slidenum">
              <a:rPr lang="it-IT" smtClean="0"/>
              <a:t>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zh-CN" altLang="en-US" dirty="0"/>
              <a:t>论文提出了一个滑动窗口的连续轨迹优化方法，将 </a:t>
            </a:r>
            <a:r>
              <a:rPr lang="en-US" altLang="zh-CN" dirty="0"/>
              <a:t>LiDAR </a:t>
            </a:r>
            <a:r>
              <a:rPr lang="zh-CN" altLang="en-US" dirty="0"/>
              <a:t>数据和 </a:t>
            </a:r>
            <a:r>
              <a:rPr lang="en-US" altLang="zh-CN" dirty="0"/>
              <a:t>IMU </a:t>
            </a:r>
            <a:r>
              <a:rPr lang="zh-CN" altLang="en-US" dirty="0"/>
              <a:t>数据结合在一起： </a:t>
            </a:r>
            <a:r>
              <a:rPr lang="en-US" altLang="zh-CN" dirty="0"/>
              <a:t>LiDAR </a:t>
            </a:r>
            <a:r>
              <a:rPr lang="zh-CN" altLang="en-US" dirty="0"/>
              <a:t>提供点云对齐的几何约束。</a:t>
            </a:r>
          </a:p>
          <a:p>
            <a:pPr>
              <a:buFont typeface="+mj-lt"/>
              <a:buAutoNum type="arabicPeriod"/>
            </a:pPr>
            <a:r>
              <a:rPr lang="en-US" altLang="zh-CN" dirty="0"/>
              <a:t>IMU </a:t>
            </a:r>
            <a:r>
              <a:rPr lang="zh-CN" altLang="en-US" dirty="0"/>
              <a:t>提供运动学信息（通过预积分计算位移和姿态变化）。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最后，通过 </a:t>
            </a:r>
            <a:r>
              <a:rPr lang="en-US" altLang="zh-CN" dirty="0"/>
              <a:t>Levenberg–Marquardt </a:t>
            </a:r>
            <a:r>
              <a:rPr lang="zh-CN" altLang="en-US" dirty="0"/>
              <a:t>优化，将 </a:t>
            </a:r>
            <a:r>
              <a:rPr lang="en-US" altLang="zh-CN" dirty="0"/>
              <a:t>LiDAR </a:t>
            </a:r>
            <a:r>
              <a:rPr lang="zh-CN" altLang="en-US" dirty="0"/>
              <a:t>点云误差、</a:t>
            </a:r>
            <a:r>
              <a:rPr lang="en-US" altLang="zh-CN" dirty="0"/>
              <a:t>IMU </a:t>
            </a:r>
            <a:r>
              <a:rPr lang="zh-CN" altLang="en-US" dirty="0"/>
              <a:t>预积分误差以及轨迹连续性约束联合优化，得到更精确的轨迹。</a:t>
            </a:r>
          </a:p>
          <a:p>
            <a:r>
              <a:rPr lang="zh-CN" altLang="en-US" dirty="0"/>
              <a:t>这种方法在论文的实验中表现出对快速运动和动态场景的高鲁棒性。这篇论文可以作为上面目标三的参考文献，参考这篇论文去实现目标</a:t>
            </a:r>
            <a:r>
              <a:rPr lang="en-US" altLang="zh-CN" dirty="0"/>
              <a:t>3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DD7B-2EBD-466F-B277-0EDC35A7E7C2}" type="slidenum">
              <a:rPr lang="it-IT" smtClean="0"/>
              <a:t>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A432B-7B28-931C-F29B-F2ED0A600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F60576-A8EA-EDEF-7DEC-4108D61EF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8168B4-0FCE-F535-32BB-11137D93B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None/>
            </a:pPr>
            <a:r>
              <a:rPr lang="zh-CN" altLang="en-US" dirty="0"/>
              <a:t>这篇论文提出了两种主要的损失函数：上面是四元组对比损失（</a:t>
            </a:r>
            <a:r>
              <a:rPr lang="en-US" altLang="zh-CN" dirty="0"/>
              <a:t>Quadruplet Contrastive Loss</a:t>
            </a:r>
            <a:r>
              <a:rPr lang="zh-CN" altLang="en-US" dirty="0"/>
              <a:t>）用于描述子学习。其中，</a:t>
            </a:r>
            <a:r>
              <a:rPr lang="en-US" altLang="zh-CN" dirty="0"/>
              <a:t>D(⋅,⋅)</a:t>
            </a:r>
            <a:r>
              <a:rPr lang="en-US" altLang="zh-CN" dirty="0">
                <a:effectLst/>
              </a:rPr>
              <a:t>D</a:t>
            </a:r>
            <a:r>
              <a:rPr lang="en-US" altLang="zh-CN" dirty="0"/>
              <a:t>(⋅,⋅) </a:t>
            </a:r>
            <a:r>
              <a:rPr lang="zh-CN" altLang="en-US" dirty="0"/>
              <a:t>是距离度量，</a:t>
            </a:r>
            <a:r>
              <a:rPr lang="en-US" altLang="zh-CN" dirty="0" err="1"/>
              <a:t>mpm</a:t>
            </a:r>
            <a:r>
              <a:rPr lang="en-US" altLang="zh-CN" dirty="0" err="1">
                <a:effectLst/>
              </a:rPr>
              <a:t>p</a:t>
            </a:r>
            <a:r>
              <a:rPr lang="zh-CN" altLang="en-US" dirty="0"/>
              <a:t>​ 和 </a:t>
            </a:r>
            <a:r>
              <a:rPr lang="en-US" altLang="zh-CN" dirty="0" err="1"/>
              <a:t>mnmn</a:t>
            </a:r>
            <a:r>
              <a:rPr lang="en-US" altLang="zh-CN" dirty="0"/>
              <a:t> </a:t>
            </a:r>
            <a:r>
              <a:rPr lang="zh-CN" altLang="en-US" dirty="0"/>
              <a:t>分别是正负边界，</a:t>
            </a:r>
            <a:r>
              <a:rPr lang="en-US" altLang="zh-CN" dirty="0"/>
              <a:t>C</a:t>
            </a:r>
            <a:r>
              <a:rPr lang="en-US" altLang="zh-CN" dirty="0">
                <a:effectLst/>
              </a:rPr>
              <a:t>C</a:t>
            </a:r>
            <a:r>
              <a:rPr lang="zh-CN" altLang="en-US" dirty="0"/>
              <a:t> 是两个部分重叠点云</a:t>
            </a:r>
            <a:r>
              <a:rPr lang="en-US" altLang="zh-CN" dirty="0"/>
              <a:t>P</a:t>
            </a:r>
            <a:r>
              <a:rPr lang="en-US" altLang="zh-CN" dirty="0">
                <a:effectLst/>
              </a:rPr>
              <a:t>P</a:t>
            </a:r>
            <a:r>
              <a:rPr lang="zh-CN" altLang="en-US" dirty="0"/>
              <a:t>和</a:t>
            </a:r>
            <a:r>
              <a:rPr lang="en-US" altLang="zh-CN" dirty="0"/>
              <a:t>QQ</a:t>
            </a:r>
            <a:r>
              <a:rPr lang="zh-CN" altLang="en-US" dirty="0"/>
              <a:t>之间的对应集合，</a:t>
            </a:r>
            <a:r>
              <a:rPr lang="en-US" altLang="zh-CN" dirty="0" err="1"/>
              <a:t>Ni</a:t>
            </a:r>
            <a:r>
              <a:rPr lang="en-US" altLang="zh-CN" dirty="0" err="1">
                <a:effectLst/>
              </a:rPr>
              <a:t>Ni</a:t>
            </a:r>
            <a:r>
              <a:rPr lang="zh-CN" altLang="en-US" dirty="0"/>
              <a:t>​是点</a:t>
            </a:r>
            <a:r>
              <a:rPr lang="en-US" altLang="zh-CN" dirty="0" err="1"/>
              <a:t>pi∈Pp</a:t>
            </a:r>
            <a:r>
              <a:rPr lang="en-US" altLang="zh-CN" dirty="0" err="1">
                <a:effectLst/>
              </a:rPr>
              <a:t>i</a:t>
            </a:r>
            <a:r>
              <a:rPr lang="zh-CN" altLang="en-US" dirty="0"/>
              <a:t>​∈</a:t>
            </a:r>
            <a:r>
              <a:rPr lang="en-US" altLang="zh-CN" dirty="0">
                <a:effectLst/>
              </a:rPr>
              <a:t>P</a:t>
            </a:r>
            <a:r>
              <a:rPr lang="zh-CN" altLang="en-US" dirty="0"/>
              <a:t>的负点集。它有助于在高维特征空间中将相关的点对拉近，将不相关的点对推远，从而提高匹配的准确性。</a:t>
            </a:r>
            <a:endParaRPr lang="en-US" altLang="zh-CN" dirty="0"/>
          </a:p>
          <a:p>
            <a:pPr>
              <a:buFont typeface="+mj-lt"/>
              <a:buNone/>
            </a:pPr>
            <a:r>
              <a:rPr lang="zh-CN" altLang="en-US" dirty="0"/>
              <a:t>下面是自监督概率检测损失（</a:t>
            </a:r>
            <a:r>
              <a:rPr lang="en-US" altLang="zh-CN" dirty="0"/>
              <a:t>Self-supervised Probabilistic Detection Loss</a:t>
            </a:r>
            <a:r>
              <a:rPr lang="zh-CN" altLang="en-US" dirty="0"/>
              <a:t>），用于关键点检测。其中，</a:t>
            </a:r>
            <a:r>
              <a:rPr lang="en-US" altLang="zh-CN" dirty="0" err="1"/>
              <a:t>mim</a:t>
            </a:r>
            <a:r>
              <a:rPr lang="en-US" altLang="zh-CN" dirty="0" err="1">
                <a:effectLst/>
              </a:rPr>
              <a:t>i</a:t>
            </a:r>
            <a:r>
              <a:rPr lang="zh-CN" altLang="en-US" dirty="0"/>
              <a:t>​是描述子的匹配能力指数，</a:t>
            </a:r>
            <a:r>
              <a:rPr lang="en-US" altLang="zh-CN" dirty="0" err="1"/>
              <a:t>σi</a:t>
            </a:r>
            <a:r>
              <a:rPr lang="en-US" altLang="zh-CN" dirty="0" err="1">
                <a:effectLst/>
              </a:rPr>
              <a:t>σi</a:t>
            </a:r>
            <a:r>
              <a:rPr lang="zh-CN" altLang="en-US" dirty="0"/>
              <a:t>​是参数，表示匹配能力的不确定性。这种设计还促进了关键点描述子的学习，因为它通过加权度量学习来增强关键点的匹配能力，同时减轻了在非显著区域（如平面和混乱区域）挖掘几何特征的负面影响。</a:t>
            </a:r>
            <a:endParaRPr lang="en-US" altLang="zh-CN" dirty="0"/>
          </a:p>
          <a:p>
            <a:pPr>
              <a:buFont typeface="+mj-lt"/>
              <a:buNone/>
            </a:pPr>
            <a:r>
              <a:rPr lang="zh-CN" altLang="en-US" dirty="0"/>
              <a:t>可以参考这篇文献损失函数设计去实现目标二。</a:t>
            </a:r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7D9A1-831B-04DC-8096-41062D8359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DD7B-2EBD-466F-B277-0EDC35A7E7C2}" type="slidenum">
              <a:rPr lang="it-IT" smtClean="0"/>
              <a:t>7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149E9-AA34-F4CE-D611-7735EE06B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1001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371600" y="1096963"/>
            <a:ext cx="7313613" cy="1447800"/>
          </a:xfrm>
        </p:spPr>
        <p:txBody>
          <a:bodyPr/>
          <a:lstStyle>
            <a:lvl1pPr algn="ctr">
              <a:defRPr sz="4400"/>
            </a:lvl1pPr>
          </a:lstStyle>
          <a:p>
            <a:pPr lvl="0"/>
            <a:r>
              <a:rPr lang="en-US" altLang="nl-NL" noProof="0"/>
              <a:t>CLICK TO EDIT MASTER TITLE STYLE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001963"/>
            <a:ext cx="7313613" cy="2246312"/>
          </a:xfrm>
        </p:spPr>
        <p:txBody>
          <a:bodyPr/>
          <a:lstStyle>
            <a:lvl1pPr algn="ctr">
              <a:defRPr sz="2800"/>
            </a:lvl1pPr>
          </a:lstStyle>
          <a:p>
            <a:pPr lvl="0"/>
            <a:r>
              <a:rPr lang="en-US" altLang="nl-NL" noProof="0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350000"/>
            <a:ext cx="1447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7"/>
          <p:cNvSpPr>
            <a:spLocks noChangeShapeType="1"/>
          </p:cNvSpPr>
          <p:nvPr userDrawn="1"/>
        </p:nvSpPr>
        <p:spPr bwMode="auto">
          <a:xfrm>
            <a:off x="685800" y="6324600"/>
            <a:ext cx="8197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450" y="1082675"/>
            <a:ext cx="7696200" cy="536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Rectangle 7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07400" y="6446838"/>
            <a:ext cx="596900" cy="238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fld id="{5F0B40E5-884E-BF48-9629-A11F7F8AF00B}" type="slidenum">
              <a:rPr lang="en-US" altLang="en-US"/>
              <a:t>‹#›</a:t>
            </a:fld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984500" y="6375400"/>
            <a:ext cx="3124200" cy="381000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s-ES"/>
              <a:t>Prof. Yajun Ha 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9"/>
          <p:cNvSpPr>
            <a:spLocks noGrp="1" noChangeArrowheads="1"/>
          </p:cNvSpPr>
          <p:nvPr>
            <p:ph type="ftr" sz="quarter" idx="10"/>
          </p:nvPr>
        </p:nvSpPr>
        <p:spPr>
          <a:xfrm>
            <a:off x="941388" y="6619875"/>
            <a:ext cx="1406525" cy="238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Prof. Yajun Ha </a:t>
            </a:r>
          </a:p>
        </p:txBody>
      </p:sp>
      <p:sp>
        <p:nvSpPr>
          <p:cNvPr id="5" name="Rectangle 7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521700" y="6592888"/>
            <a:ext cx="596900" cy="238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DA6500B-5CE5-5047-8139-CAA7BAF190F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350000"/>
            <a:ext cx="1447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7"/>
          <p:cNvSpPr>
            <a:spLocks noChangeShapeType="1"/>
          </p:cNvSpPr>
          <p:nvPr userDrawn="1"/>
        </p:nvSpPr>
        <p:spPr bwMode="auto">
          <a:xfrm>
            <a:off x="685800" y="6324600"/>
            <a:ext cx="8197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6025" y="1216025"/>
            <a:ext cx="3771900" cy="5365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0325" y="1216025"/>
            <a:ext cx="3771900" cy="5365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2933700" y="6477000"/>
            <a:ext cx="3124200" cy="381000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s-ES"/>
              <a:t>Prof. Yajun Ha 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ftr" sz="quarter" idx="10"/>
          </p:nvPr>
        </p:nvSpPr>
        <p:spPr>
          <a:xfrm>
            <a:off x="941388" y="6619875"/>
            <a:ext cx="1406525" cy="238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Prof. Yajun Ha </a:t>
            </a:r>
          </a:p>
        </p:txBody>
      </p:sp>
      <p:sp>
        <p:nvSpPr>
          <p:cNvPr id="8" name="Rectangle 7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521700" y="6592888"/>
            <a:ext cx="596900" cy="238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32626E3-4749-494A-BA26-49E5DEB7E2D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350000"/>
            <a:ext cx="1447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Line 7"/>
          <p:cNvSpPr>
            <a:spLocks noChangeShapeType="1"/>
          </p:cNvSpPr>
          <p:nvPr userDrawn="1"/>
        </p:nvSpPr>
        <p:spPr bwMode="auto">
          <a:xfrm>
            <a:off x="685800" y="6324600"/>
            <a:ext cx="8197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5" name="Rectangle 7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191500" y="6446838"/>
            <a:ext cx="596900" cy="238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fld id="{4661D78A-AC99-F64E-8C3B-B09E26F47AC3}" type="slidenum">
              <a:rPr lang="en-US" altLang="en-US"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55950" y="6375400"/>
            <a:ext cx="3124200" cy="381000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s-ES"/>
              <a:t>Prof. Yajun Ha 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0" y="273050"/>
            <a:ext cx="63627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0"/>
          </p:nvPr>
        </p:nvSpPr>
        <p:spPr>
          <a:xfrm>
            <a:off x="941388" y="6619875"/>
            <a:ext cx="1406525" cy="238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Prof. Yajun Ha </a:t>
            </a:r>
          </a:p>
        </p:txBody>
      </p:sp>
      <p:sp>
        <p:nvSpPr>
          <p:cNvPr id="6" name="Rectangle 7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521700" y="6592888"/>
            <a:ext cx="596900" cy="238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495213C-5836-5243-9486-143DB37A8F4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8175" y="152400"/>
            <a:ext cx="1924050" cy="6429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6025" y="152400"/>
            <a:ext cx="5619750" cy="6429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6025" y="152400"/>
            <a:ext cx="7696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/>
          <a:lstStyle/>
          <a:p>
            <a:pPr lvl="0"/>
            <a:r>
              <a:rPr lang="en-US" altLang="nl-NL"/>
              <a:t>Slide Title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6025" y="1216025"/>
            <a:ext cx="7696200" cy="536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altLang="nl-NL"/>
              <a:t>First level</a:t>
            </a:r>
          </a:p>
          <a:p>
            <a:pPr lvl="1"/>
            <a:r>
              <a:rPr lang="en-US" altLang="nl-NL"/>
              <a:t>Second level</a:t>
            </a:r>
          </a:p>
          <a:p>
            <a:pPr lvl="2"/>
            <a:r>
              <a:rPr lang="en-US" altLang="nl-NL"/>
              <a:t>Third Level</a:t>
            </a:r>
          </a:p>
          <a:p>
            <a:pPr lvl="3"/>
            <a:r>
              <a:rPr lang="en-US" altLang="nl-NL"/>
              <a:t>Fourth Level</a:t>
            </a:r>
          </a:p>
          <a:p>
            <a:pPr lvl="4"/>
            <a:r>
              <a:rPr lang="en-US" altLang="nl-NL"/>
              <a:t>Fifth Level</a:t>
            </a:r>
          </a:p>
        </p:txBody>
      </p:sp>
      <p:sp>
        <p:nvSpPr>
          <p:cNvPr id="1031" name="Rectangle 41"/>
          <p:cNvSpPr>
            <a:spLocks noChangeArrowheads="1"/>
          </p:cNvSpPr>
          <p:nvPr/>
        </p:nvSpPr>
        <p:spPr bwMode="auto">
          <a:xfrm>
            <a:off x="1219200" y="990600"/>
            <a:ext cx="7924800" cy="539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SG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dt="0"/>
  <p:txStyles>
    <p:titleStyle>
      <a:lvl1pPr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2pPr>
      <a:lvl3pPr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3pPr>
      <a:lvl4pPr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4pPr>
      <a:lvl5pPr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5pPr>
      <a:lvl6pPr marL="457200"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6pPr>
      <a:lvl7pPr marL="914400"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7pPr>
      <a:lvl8pPr marL="1371600"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8pPr>
      <a:lvl9pPr marL="1828800"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Clr>
          <a:srgbClr val="000066"/>
        </a:buClr>
        <a:buSzPct val="75000"/>
        <a:buFont typeface="Wingdings" panose="05000000000000000000" pitchFamily="2" charset="2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65480" indent="-1905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>
          <a:solidFill>
            <a:schemeClr val="tx1"/>
          </a:solidFill>
          <a:latin typeface="+mn-lt"/>
        </a:defRPr>
      </a:lvl2pPr>
      <a:lvl3pPr marL="952500" indent="-1905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defRPr>
          <a:solidFill>
            <a:schemeClr val="tx1"/>
          </a:solidFill>
          <a:latin typeface="+mn-lt"/>
        </a:defRPr>
      </a:lvl3pPr>
      <a:lvl4pPr marL="1619250" indent="-1905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1400">
          <a:solidFill>
            <a:schemeClr val="tx1"/>
          </a:solidFill>
          <a:latin typeface="+mn-lt"/>
        </a:defRPr>
      </a:lvl4pPr>
      <a:lvl5pPr marL="19050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SzPct val="100000"/>
        <a:defRPr sz="1400">
          <a:solidFill>
            <a:schemeClr val="tx1"/>
          </a:solidFill>
          <a:latin typeface="+mn-lt"/>
        </a:defRPr>
      </a:lvl5pPr>
      <a:lvl6pPr marL="23622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SzPct val="100000"/>
        <a:defRPr sz="1400">
          <a:solidFill>
            <a:schemeClr val="tx1"/>
          </a:solidFill>
          <a:latin typeface="+mn-lt"/>
        </a:defRPr>
      </a:lvl6pPr>
      <a:lvl7pPr marL="28194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SzPct val="100000"/>
        <a:defRPr sz="1400">
          <a:solidFill>
            <a:schemeClr val="tx1"/>
          </a:solidFill>
          <a:latin typeface="+mn-lt"/>
        </a:defRPr>
      </a:lvl7pPr>
      <a:lvl8pPr marL="32766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SzPct val="100000"/>
        <a:defRPr sz="1400">
          <a:solidFill>
            <a:schemeClr val="tx1"/>
          </a:solidFill>
          <a:latin typeface="+mn-lt"/>
        </a:defRPr>
      </a:lvl8pPr>
      <a:lvl9pPr marL="37338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SzPct val="100000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09.04937v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ithub.com/umautobots/LONER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hyperlink" Target="https://arxiv.org/pdf/2402.19044v2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arxiv.org/pdf/2309.1539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1295400" y="4419335"/>
            <a:ext cx="65532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小组成员：佘成应  王奔</a:t>
            </a:r>
            <a:endParaRPr lang="it-IT" sz="2400" b="1" dirty="0">
              <a:solidFill>
                <a:schemeClr val="accent4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 Box 19"/>
          <p:cNvSpPr txBox="1">
            <a:spLocks noChangeArrowheads="1"/>
          </p:cNvSpPr>
          <p:nvPr/>
        </p:nvSpPr>
        <p:spPr bwMode="auto">
          <a:xfrm>
            <a:off x="609600" y="1246592"/>
            <a:ext cx="7924800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Aft>
                <a:spcPts val="900"/>
              </a:spcAft>
            </a:pPr>
            <a:r>
              <a:rPr lang="en-US" altLang="zh-CN" sz="4800" b="1" i="0" u="none" strike="noStrike" baseline="0" dirty="0">
                <a:solidFill>
                  <a:srgbClr val="082E72"/>
                </a:solidFill>
                <a:latin typeface="黑体" panose="02010609060101010101" charset="-122"/>
                <a:ea typeface="黑体" panose="02010609060101010101" charset="-122"/>
              </a:rPr>
              <a:t>SI360 2024-Project</a:t>
            </a:r>
            <a:endParaRPr lang="en-US" altLang="zh-CN" sz="7200" b="1" dirty="0">
              <a:solidFill>
                <a:srgbClr val="CC0066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400050" y="2645418"/>
            <a:ext cx="8343900" cy="1192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/>
          <a:lstStyle>
            <a:lvl1pPr algn="ct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基于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LiDAR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传感器数据实现的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SLAM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算法</a:t>
            </a:r>
            <a:endParaRPr kumimoji="0" lang="en-US" altLang="nl-NL" sz="32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083278"/>
            <a:ext cx="2286000" cy="68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31215" y="3200400"/>
            <a:ext cx="8160385" cy="5084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Isaacson S, Kung P C, </a:t>
            </a:r>
            <a:r>
              <a:rPr lang="en-US" altLang="zh-CN" sz="2000" dirty="0" err="1">
                <a:solidFill>
                  <a:srgbClr val="1E355E"/>
                </a:solidFill>
                <a:cs typeface="Times New Roman" panose="02020603050405020304" pitchFamily="18" charset="0"/>
              </a:rPr>
              <a:t>Ramanagopal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 M, et al. </a:t>
            </a:r>
            <a:r>
              <a:rPr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Loner: Lidar only neural representations for real-time slam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[J]. IEEE </a:t>
            </a:r>
            <a:r>
              <a:rPr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Robotics and Automation Letters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2023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论文地址：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  <a:hlinkClick r:id="rId3"/>
              </a:rPr>
              <a:t>https://arxiv.org/pdf/2309.04937v3</a:t>
            </a:r>
            <a:endParaRPr lang="en-US" altLang="zh-CN" sz="2000" dirty="0">
              <a:solidFill>
                <a:srgbClr val="1E355E"/>
              </a:solidFill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开源代码：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  <a:hlinkClick r:id="rId4"/>
              </a:rPr>
              <a:t>https://github.com/umautobots/LONER</a:t>
            </a:r>
            <a:endParaRPr lang="en-US" altLang="zh-CN" sz="2000" dirty="0">
              <a:solidFill>
                <a:srgbClr val="1E355E"/>
              </a:solidFill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endParaRPr lang="en-US" altLang="zh-CN" sz="2000" dirty="0">
              <a:solidFill>
                <a:srgbClr val="1E355E"/>
              </a:solidFill>
              <a:cs typeface="Times New Roman" panose="02020603050405020304" pitchFamily="18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6083278"/>
            <a:ext cx="2286000" cy="68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19"/>
          <p:cNvSpPr txBox="1">
            <a:spLocks noChangeArrowheads="1"/>
          </p:cNvSpPr>
          <p:nvPr/>
        </p:nvSpPr>
        <p:spPr bwMode="auto">
          <a:xfrm>
            <a:off x="154686" y="163840"/>
            <a:ext cx="8610600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Aft>
                <a:spcPts val="900"/>
              </a:spcAft>
            </a:pPr>
            <a:r>
              <a:rPr lang="zh-CN" altLang="en-US" sz="3200" b="1" dirty="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基线文献选取</a:t>
            </a:r>
            <a:endParaRPr lang="en-US" altLang="zh-CN" sz="2000" dirty="0">
              <a:solidFill>
                <a:schemeClr val="tx2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53ADF9-7842-60F1-20E2-0236163960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881" y="1357941"/>
            <a:ext cx="7052210" cy="13716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FA657-A227-E4CB-B119-8B55BE186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CF2ED56-1EDB-D219-16AC-FAE3FCEA5E44}"/>
              </a:ext>
            </a:extLst>
          </p:cNvPr>
          <p:cNvSpPr txBox="1"/>
          <p:nvPr/>
        </p:nvSpPr>
        <p:spPr>
          <a:xfrm>
            <a:off x="491807" y="4685337"/>
            <a:ext cx="8160385" cy="4017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900"/>
              </a:spcAft>
              <a:defRPr/>
            </a:pP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先来看看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LONER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的建图效果：</a:t>
            </a:r>
            <a:endParaRPr lang="en-US" altLang="zh-CN" sz="2000" dirty="0">
              <a:solidFill>
                <a:srgbClr val="1E355E"/>
              </a:solidFill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defRPr/>
            </a:pP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右上角是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Mesh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地图，红色是轨迹，其他图像是新视点合成的深度图。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LONER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在训练</a:t>
            </a:r>
            <a:r>
              <a:rPr lang="en-US" altLang="zh-CN" sz="2000" dirty="0" err="1">
                <a:solidFill>
                  <a:srgbClr val="1E355E"/>
                </a:solidFill>
                <a:cs typeface="Times New Roman" panose="02020603050405020304" pitchFamily="18" charset="0"/>
              </a:rPr>
              <a:t>NeRF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以后，可以将</a:t>
            </a:r>
            <a:r>
              <a:rPr lang="en-US" altLang="zh-CN" sz="2000" dirty="0" err="1">
                <a:solidFill>
                  <a:srgbClr val="1E355E"/>
                </a:solidFill>
                <a:cs typeface="Times New Roman" panose="02020603050405020304" pitchFamily="18" charset="0"/>
              </a:rPr>
              <a:t>NeRF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地图离线渲染为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Mesh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和深度图。</a:t>
            </a:r>
          </a:p>
          <a:p>
            <a:pPr>
              <a:spcAft>
                <a:spcPts val="900"/>
              </a:spcAft>
              <a:defRPr/>
            </a:pPr>
            <a:endParaRPr lang="zh-CN" alt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Aft>
                <a:spcPts val="900"/>
              </a:spcAft>
              <a:defRPr/>
            </a:pPr>
            <a:endParaRPr lang="zh-CN" alt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endParaRPr lang="en-US" altLang="zh-CN" sz="2000" dirty="0">
              <a:solidFill>
                <a:srgbClr val="1E355E"/>
              </a:solidFill>
              <a:cs typeface="Times New Roman" panose="02020603050405020304" pitchFamily="18" charset="0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18DD934A-AEBE-F8DE-5341-5502A8F7F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083278"/>
            <a:ext cx="2286000" cy="68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19">
            <a:extLst>
              <a:ext uri="{FF2B5EF4-FFF2-40B4-BE49-F238E27FC236}">
                <a16:creationId xmlns:a16="http://schemas.microsoft.com/office/drawing/2014/main" id="{40B449B3-46B2-C9EB-F940-C3849AEE1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86" y="163840"/>
            <a:ext cx="861060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Aft>
                <a:spcPts val="900"/>
              </a:spcAft>
            </a:pPr>
            <a:r>
              <a:rPr lang="zh-CN" altLang="en-US" sz="3200" b="1" dirty="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效果展示</a:t>
            </a:r>
            <a:endParaRPr lang="en-US" altLang="zh-CN" sz="2000" dirty="0">
              <a:solidFill>
                <a:schemeClr val="tx2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F26631D-15BF-E84C-5641-E91CD36F7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894338"/>
            <a:ext cx="5638800" cy="370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26945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083278"/>
            <a:ext cx="2286000" cy="68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19"/>
          <p:cNvSpPr txBox="1">
            <a:spLocks noChangeArrowheads="1"/>
          </p:cNvSpPr>
          <p:nvPr/>
        </p:nvSpPr>
        <p:spPr bwMode="auto">
          <a:xfrm>
            <a:off x="154686" y="163840"/>
            <a:ext cx="861060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Aft>
                <a:spcPts val="900"/>
              </a:spcAft>
            </a:pPr>
            <a:r>
              <a:rPr lang="zh-CN" altLang="en-US" sz="3200" b="1" dirty="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选取原因</a:t>
            </a:r>
            <a:endParaRPr lang="en-US" altLang="zh-CN" sz="2000" dirty="0">
              <a:solidFill>
                <a:schemeClr val="tx2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E26426-9F1C-ED1F-2993-A7876919D4C8}"/>
              </a:ext>
            </a:extLst>
          </p:cNvPr>
          <p:cNvSpPr txBox="1"/>
          <p:nvPr/>
        </p:nvSpPr>
        <p:spPr>
          <a:xfrm>
            <a:off x="635381" y="998833"/>
            <a:ext cx="8160385" cy="20491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1.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论文仅使用了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LIDAR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数据实现实时定位和建图，与我们本次实验目的相同</a:t>
            </a:r>
            <a:endParaRPr lang="en-US" altLang="zh-CN" sz="2000" dirty="0">
              <a:solidFill>
                <a:srgbClr val="1E355E"/>
              </a:solidFill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defRPr/>
            </a:pP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2.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论文中首次使用神经网络，利用有监督的方式训练模型来代替传统的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SLAM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算法，并在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NICE-SLAM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数据集上达到了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SOTA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endParaRPr lang="en-US" altLang="zh-CN" sz="2000" dirty="0">
              <a:solidFill>
                <a:srgbClr val="1E355E"/>
              </a:solidFill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D7A35D2-BC4D-5DDA-A172-28B7D186F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21" y="3048000"/>
            <a:ext cx="8415130" cy="2286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083278"/>
            <a:ext cx="2286000" cy="68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19"/>
          <p:cNvSpPr txBox="1">
            <a:spLocks noChangeArrowheads="1"/>
          </p:cNvSpPr>
          <p:nvPr/>
        </p:nvSpPr>
        <p:spPr bwMode="auto">
          <a:xfrm>
            <a:off x="154686" y="163840"/>
            <a:ext cx="861060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Aft>
                <a:spcPts val="900"/>
              </a:spcAft>
            </a:pPr>
            <a:r>
              <a:rPr lang="zh-CN" altLang="en-US" sz="3200" b="1" dirty="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预期目标</a:t>
            </a:r>
            <a:endParaRPr lang="en-US" altLang="zh-CN" sz="2000" dirty="0">
              <a:solidFill>
                <a:schemeClr val="tx2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2125" y="998855"/>
            <a:ext cx="8160385" cy="5084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900"/>
              </a:spcAft>
              <a:defRPr/>
            </a:pP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1.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尝试替代论文中提出的神经网络模型中的模块，并进行训练和测试查看实际效果</a:t>
            </a:r>
            <a:endParaRPr lang="en-US" altLang="zh-CN" sz="2000" dirty="0">
              <a:solidFill>
                <a:srgbClr val="1E355E"/>
              </a:solidFill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defRPr/>
            </a:pP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2.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在上一步的基础上尝试修改或添加新的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Loss Function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，让模型达到更好的收敛效果</a:t>
            </a:r>
          </a:p>
          <a:p>
            <a:pPr>
              <a:spcAft>
                <a:spcPts val="900"/>
              </a:spcAft>
              <a:defRPr/>
            </a:pP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3.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尝试添加多模态，扩展原本的神经网络，加入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IMU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RGB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等数据，提升模型鲁棒性</a:t>
            </a:r>
          </a:p>
          <a:p>
            <a:pPr>
              <a:spcAft>
                <a:spcPts val="900"/>
              </a:spcAft>
              <a:defRPr/>
            </a:pPr>
            <a:endParaRPr lang="zh-CN" alt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1E355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083278"/>
            <a:ext cx="2286000" cy="68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19"/>
          <p:cNvSpPr txBox="1">
            <a:spLocks noChangeArrowheads="1"/>
          </p:cNvSpPr>
          <p:nvPr/>
        </p:nvSpPr>
        <p:spPr bwMode="auto">
          <a:xfrm>
            <a:off x="152400" y="96784"/>
            <a:ext cx="861060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Aft>
                <a:spcPts val="900"/>
              </a:spcAft>
            </a:pPr>
            <a:r>
              <a:rPr lang="zh-CN" altLang="en-US" sz="3200" b="1" dirty="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其它主要参考文献</a:t>
            </a:r>
            <a:endParaRPr lang="en-US" altLang="zh-CN" sz="3200" b="1" dirty="0">
              <a:solidFill>
                <a:schemeClr val="tx2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1807" y="762000"/>
            <a:ext cx="8160385" cy="4834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defRPr/>
            </a:pP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1.Skuddis D, 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Haala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N. DMSA--Dense Multi Scan Adjustment for LiDAR Inertial Odometry and Global Optimization[J]. 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arXiv:2402.19044, 2024.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defRPr/>
            </a:pPr>
            <a:r>
              <a:rPr kumimoji="0" lang="zh-CN" altLang="en-US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论文地址：</a:t>
            </a:r>
            <a:r>
              <a:rPr kumimoji="0" lang="en-US" altLang="zh-CN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4"/>
              </a:rPr>
              <a:t>https://arxiv.org/pdf/2402.19044v2</a:t>
            </a:r>
            <a:endParaRPr kumimoji="0" lang="en-US" altLang="zh-CN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defRPr/>
            </a:pP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源码地址：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https://github.com/davidskdds/DMSA_LiDAR_SLAM.git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1E355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B58AE5-478F-F4D2-4049-1A1EC6782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362200"/>
            <a:ext cx="4266261" cy="386603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2F8A3-6BF3-65D9-5867-91BC8D926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E806A9CC-0892-3366-52E0-E815B1C41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083278"/>
            <a:ext cx="2286000" cy="68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19">
            <a:extLst>
              <a:ext uri="{FF2B5EF4-FFF2-40B4-BE49-F238E27FC236}">
                <a16:creationId xmlns:a16="http://schemas.microsoft.com/office/drawing/2014/main" id="{2E4B4797-62D0-DEA7-033C-2C2D58FC3F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96784"/>
            <a:ext cx="861060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Aft>
                <a:spcPts val="900"/>
              </a:spcAft>
            </a:pPr>
            <a:r>
              <a:rPr lang="zh-CN" altLang="en-US" sz="3200" b="1" dirty="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其它主要参考文献</a:t>
            </a:r>
            <a:endParaRPr lang="en-US" altLang="zh-CN" sz="3200" b="1" dirty="0">
              <a:solidFill>
                <a:schemeClr val="tx2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3E154A-18BD-738C-6BBB-96F8E4E28363}"/>
              </a:ext>
            </a:extLst>
          </p:cNvPr>
          <p:cNvSpPr txBox="1"/>
          <p:nvPr/>
        </p:nvSpPr>
        <p:spPr>
          <a:xfrm>
            <a:off x="491807" y="756960"/>
            <a:ext cx="8160385" cy="4834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900"/>
              </a:spcAft>
              <a:defRPr/>
            </a:pPr>
            <a:r>
              <a:rPr lang="en-US" altLang="zh-CN" dirty="0">
                <a:solidFill>
                  <a:srgbClr val="222222"/>
                </a:solidFill>
                <a:latin typeface="Arial" panose="020B0604020202020204" pitchFamily="34" charset="0"/>
              </a:rPr>
              <a:t>2.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Huang R, Zhao M, Chen J, et al. 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Kdd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-loam: Jointly learned 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keypoint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detector and descriptors assisted lidar odometry and mapping[C]//2024 IEEE International Conference on Robotics and Automation (ICRA). IEEE, 2024: 8559-8565.</a:t>
            </a:r>
          </a:p>
          <a:p>
            <a:pPr>
              <a:spcAft>
                <a:spcPts val="900"/>
              </a:spcAft>
              <a:defRPr/>
            </a:pPr>
            <a:r>
              <a:rPr kumimoji="0" lang="zh-CN" altLang="en-US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论文地址：</a:t>
            </a:r>
            <a:r>
              <a:rPr kumimoji="0" lang="en-US" altLang="zh-CN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4"/>
              </a:rPr>
              <a:t>https://arxiv.org/pdf/2309.15394</a:t>
            </a:r>
            <a:endParaRPr kumimoji="0" lang="en-US" altLang="zh-CN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defRPr/>
            </a:pP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源码地址：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https://github.com/RenlangHuang/KDD-LOAM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1E355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D8DD071-862D-7497-1194-ABBFCB5536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673" y="2839424"/>
            <a:ext cx="5181602" cy="14975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3C1988E-35B2-5D81-957F-77C0CA0B34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0" y="4489262"/>
            <a:ext cx="4991928" cy="134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02430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Default Design">
  <a:themeElements>
    <a:clrScheme name="">
      <a:dk1>
        <a:srgbClr val="1E355E"/>
      </a:dk1>
      <a:lt1>
        <a:srgbClr val="333399"/>
      </a:lt1>
      <a:dk2>
        <a:srgbClr val="1E355E"/>
      </a:dk2>
      <a:lt2>
        <a:srgbClr val="B1C6D7"/>
      </a:lt2>
      <a:accent1>
        <a:srgbClr val="8499A5"/>
      </a:accent1>
      <a:accent2>
        <a:srgbClr val="B61E5C"/>
      </a:accent2>
      <a:accent3>
        <a:srgbClr val="ADADCA"/>
      </a:accent3>
      <a:accent4>
        <a:srgbClr val="182C4F"/>
      </a:accent4>
      <a:accent5>
        <a:srgbClr val="C2CACF"/>
      </a:accent5>
      <a:accent6>
        <a:srgbClr val="A51A53"/>
      </a:accent6>
      <a:hlink>
        <a:srgbClr val="634D94"/>
      </a:hlink>
      <a:folHlink>
        <a:srgbClr val="3A8268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bg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lnSpc>
            <a:spcPct val="88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bg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lnSpc>
            <a:spcPct val="88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1E355E"/>
        </a:dk1>
        <a:lt1>
          <a:srgbClr val="FFFFFF"/>
        </a:lt1>
        <a:dk2>
          <a:srgbClr val="1E355E"/>
        </a:dk2>
        <a:lt2>
          <a:srgbClr val="B1C6D7"/>
        </a:lt2>
        <a:accent1>
          <a:srgbClr val="8499A5"/>
        </a:accent1>
        <a:accent2>
          <a:srgbClr val="B61E5C"/>
        </a:accent2>
        <a:accent3>
          <a:srgbClr val="FFFFFF"/>
        </a:accent3>
        <a:accent4>
          <a:srgbClr val="182C4F"/>
        </a:accent4>
        <a:accent5>
          <a:srgbClr val="C2CACF"/>
        </a:accent5>
        <a:accent6>
          <a:srgbClr val="A51A53"/>
        </a:accent6>
        <a:hlink>
          <a:srgbClr val="634D94"/>
        </a:hlink>
        <a:folHlink>
          <a:srgbClr val="3A82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</Template>
  <TotalTime>0</TotalTime>
  <Words>722</Words>
  <Application>Microsoft Office PowerPoint</Application>
  <PresentationFormat>全屏显示(4:3)</PresentationFormat>
  <Paragraphs>40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黑体</vt:lpstr>
      <vt:lpstr>宋体</vt:lpstr>
      <vt:lpstr>Arial</vt:lpstr>
      <vt:lpstr>Calibri</vt:lpstr>
      <vt:lpstr>Consolas</vt:lpstr>
      <vt:lpstr>Times New Roman</vt:lpstr>
      <vt:lpstr>Wingdings</vt:lpstr>
      <vt:lpstr>1_Default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79</cp:revision>
  <dcterms:created xsi:type="dcterms:W3CDTF">2009-10-07T20:41:00Z</dcterms:created>
  <dcterms:modified xsi:type="dcterms:W3CDTF">2024-12-16T03:22:37Z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D2AEE7570922471BB61A6A2279EFCCD9_13</vt:lpwstr>
  </property>
  <property fmtid="{D5CDD505-2E9C-101B-9397-08002B2CF9AE}" pid="3" name="KSOProductBuildVer">
    <vt:lpwstr>2052-12.1.0.18912</vt:lpwstr>
  </property>
</Properties>
</file>