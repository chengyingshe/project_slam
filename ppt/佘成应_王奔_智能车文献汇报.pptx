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500" r:id="rId2"/>
    <p:sldId id="839" r:id="rId3"/>
    <p:sldId id="845" r:id="rId4"/>
    <p:sldId id="842" r:id="rId5"/>
    <p:sldId id="843" r:id="rId6"/>
    <p:sldId id="844" r:id="rId7"/>
    <p:sldId id="846" r:id="rId8"/>
  </p:sldIdLst>
  <p:sldSz cx="9144000" cy="6858000" type="screen4x3"/>
  <p:notesSz cx="6997700" cy="92837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54" userDrawn="1">
          <p15:clr>
            <a:srgbClr val="A4A3A4"/>
          </p15:clr>
        </p15:guide>
        <p15:guide id="2" pos="280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4">
          <p15:clr>
            <a:srgbClr val="A4A3A4"/>
          </p15:clr>
        </p15:guide>
        <p15:guide id="2" pos="215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52" autoAdjust="0"/>
    <p:restoredTop sz="61093" autoAdjust="0"/>
  </p:normalViewPr>
  <p:slideViewPr>
    <p:cSldViewPr showGuides="1">
      <p:cViewPr varScale="1">
        <p:scale>
          <a:sx n="51" d="100"/>
          <a:sy n="51" d="100"/>
        </p:scale>
        <p:origin x="1338" y="60"/>
      </p:cViewPr>
      <p:guideLst>
        <p:guide orient="horz" pos="554"/>
        <p:guide pos="280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474"/>
    </p:cViewPr>
  </p:sorterViewPr>
  <p:notesViewPr>
    <p:cSldViewPr>
      <p:cViewPr>
        <p:scale>
          <a:sx n="150" d="100"/>
          <a:sy n="150" d="100"/>
        </p:scale>
        <p:origin x="-72" y="2484"/>
      </p:cViewPr>
      <p:guideLst>
        <p:guide orient="horz" pos="2924"/>
        <p:guide pos="215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63988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F3B64D1-AAD5-A140-80D0-6BB9E0483844}" type="datetimeFigureOut">
              <a:rPr lang="it-IT"/>
              <a:t>16/12/2024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63988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3847EC-CB7F-7D45-8DD9-6177710C3A82}" type="slidenum">
              <a:rPr lang="it-IT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63988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716B90E-A14D-8B4B-A113-4F8128E40D0E}" type="datetimeFigureOut">
              <a:rPr lang="it-IT"/>
              <a:t>16/12/2024</a:t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9513" y="696913"/>
            <a:ext cx="4638675" cy="3479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26" tIns="46513" rIns="93026" bIns="46513" rtlCol="0" anchor="ctr"/>
          <a:lstStyle/>
          <a:p>
            <a:pPr lvl="0"/>
            <a:endParaRPr lang="it-IT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0088" y="4410075"/>
            <a:ext cx="5597525" cy="4176713"/>
          </a:xfrm>
          <a:prstGeom prst="rect">
            <a:avLst/>
          </a:prstGeom>
        </p:spPr>
        <p:txBody>
          <a:bodyPr vert="horz" lIns="93026" tIns="46513" rIns="93026" bIns="46513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it-IT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63988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2BFB311-CEB4-4042-9D98-99481829B1DD}" type="slidenum">
              <a:rPr lang="it-IT"/>
              <a:t>‹#›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1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2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186A-9A3A-6297-9B8B-819A34EE0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41CAEC-C80A-CE74-B656-499076DD39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3585F-37B2-9E5E-7327-F9CB70A84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A592E-9E71-FE20-7C2C-1057F146A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3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90A47-F6FA-9748-0367-E1C7AF7C9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3647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4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A432B-7B28-931C-F29B-F2ED0A600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F60576-A8EA-EDEF-7DEC-4108D61EF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8168B4-0FCE-F535-32BB-11137D93BA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7D9A1-831B-04DC-8096-41062D8359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  <a:t>7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C149E9-AA34-F4CE-D611-7735EE06B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100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371600" y="1096963"/>
            <a:ext cx="7313613" cy="1447800"/>
          </a:xfrm>
        </p:spPr>
        <p:txBody>
          <a:bodyPr/>
          <a:lstStyle>
            <a:lvl1pPr algn="ctr">
              <a:defRPr sz="4400"/>
            </a:lvl1pPr>
          </a:lstStyle>
          <a:p>
            <a:pPr lvl="0"/>
            <a:r>
              <a:rPr lang="en-US" altLang="nl-NL" noProof="0"/>
              <a:t>CLICK TO EDIT MASTER TITLE STYLE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001963"/>
            <a:ext cx="7313613" cy="2246312"/>
          </a:xfrm>
        </p:spPr>
        <p:txBody>
          <a:bodyPr/>
          <a:lstStyle>
            <a:lvl1pPr algn="ctr">
              <a:defRPr sz="2800"/>
            </a:lvl1pPr>
          </a:lstStyle>
          <a:p>
            <a:pPr lvl="0"/>
            <a:r>
              <a:rPr lang="en-US" altLang="nl-NL" noProof="0"/>
              <a:t>Click to edit Master subtitle style</a:t>
            </a:r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7450" y="1082675"/>
            <a:ext cx="7696200" cy="536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Rectangle 7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407400" y="644683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400" smtClean="0"/>
            </a:lvl1pPr>
          </a:lstStyle>
          <a:p>
            <a:pPr>
              <a:defRPr/>
            </a:pPr>
            <a:fld id="{5F0B40E5-884E-BF48-9629-A11F7F8AF00B}" type="slidenum">
              <a:rPr lang="en-US" altLang="en-US"/>
              <a:t>‹#›</a:t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2984500" y="63754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</a:p>
        </p:txBody>
      </p:sp>
      <p:sp>
        <p:nvSpPr>
          <p:cNvPr id="5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3DA6500B-5CE5-5047-8139-CAA7BAF190F1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6025" y="1216025"/>
            <a:ext cx="3771900" cy="5365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0325" y="1216025"/>
            <a:ext cx="3771900" cy="5365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2933700" y="64770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</a:p>
        </p:txBody>
      </p:sp>
      <p:sp>
        <p:nvSpPr>
          <p:cNvPr id="8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A32626E3-4749-494A-BA26-49E5DEB7E2DC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5" name="Rectangle 7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191500" y="644683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400" smtClean="0"/>
            </a:lvl1pPr>
          </a:lstStyle>
          <a:p>
            <a:pPr>
              <a:defRPr/>
            </a:pPr>
            <a:fld id="{4661D78A-AC99-F64E-8C3B-B09E26F47AC3}" type="slidenum">
              <a:rPr lang="en-US" altLang="en-US"/>
              <a:t>‹#›</a:t>
            </a:fld>
            <a:endParaRPr lang="en-US" altLang="en-US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55950" y="63754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24100" y="273050"/>
            <a:ext cx="63627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SG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</a:p>
        </p:txBody>
      </p:sp>
      <p:sp>
        <p:nvSpPr>
          <p:cNvPr id="6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C495213C-5836-5243-9486-143DB37A8F4D}" type="slidenum">
              <a:rPr lang="zh-CN" altLang="en-US"/>
              <a:t>‹#›</a:t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88175" y="152400"/>
            <a:ext cx="1924050" cy="64293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6025" y="152400"/>
            <a:ext cx="5619750" cy="6429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16025" y="152400"/>
            <a:ext cx="7696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ctr" anchorCtr="0" compatLnSpc="1"/>
          <a:lstStyle/>
          <a:p>
            <a:pPr lvl="0"/>
            <a:r>
              <a:rPr lang="en-US" altLang="nl-NL"/>
              <a:t>Slide Title</a:t>
            </a:r>
          </a:p>
        </p:txBody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216025" y="1216025"/>
            <a:ext cx="7696200" cy="5365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t" anchorCtr="0" compatLnSpc="1"/>
          <a:lstStyle/>
          <a:p>
            <a:pPr lvl="0"/>
            <a:r>
              <a:rPr lang="en-US" altLang="nl-NL"/>
              <a:t>First level</a:t>
            </a:r>
          </a:p>
          <a:p>
            <a:pPr lvl="1"/>
            <a:r>
              <a:rPr lang="en-US" altLang="nl-NL"/>
              <a:t>Second level</a:t>
            </a:r>
          </a:p>
          <a:p>
            <a:pPr lvl="2"/>
            <a:r>
              <a:rPr lang="en-US" altLang="nl-NL"/>
              <a:t>Third Level</a:t>
            </a:r>
          </a:p>
          <a:p>
            <a:pPr lvl="3"/>
            <a:r>
              <a:rPr lang="en-US" altLang="nl-NL"/>
              <a:t>Fourth Level</a:t>
            </a:r>
          </a:p>
          <a:p>
            <a:pPr lvl="4"/>
            <a:r>
              <a:rPr lang="en-US" altLang="nl-NL"/>
              <a:t>Fifth Level</a:t>
            </a:r>
          </a:p>
        </p:txBody>
      </p:sp>
      <p:sp>
        <p:nvSpPr>
          <p:cNvPr id="1031" name="Rectangle 41"/>
          <p:cNvSpPr>
            <a:spLocks noChangeArrowheads="1"/>
          </p:cNvSpPr>
          <p:nvPr/>
        </p:nvSpPr>
        <p:spPr bwMode="auto">
          <a:xfrm>
            <a:off x="1219200" y="990600"/>
            <a:ext cx="7924800" cy="539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en-SG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dt="0"/>
  <p:txStyles>
    <p:titleStyle>
      <a:lvl1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+mj-lt"/>
          <a:ea typeface="+mj-ea"/>
          <a:cs typeface="+mj-cs"/>
        </a:defRPr>
      </a:lvl1pPr>
      <a:lvl2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2pPr>
      <a:lvl3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3pPr>
      <a:lvl4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4pPr>
      <a:lvl5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5pPr>
      <a:lvl6pPr marL="4572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6pPr>
      <a:lvl7pPr marL="9144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7pPr>
      <a:lvl8pPr marL="13716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8pPr>
      <a:lvl9pPr marL="18288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rgbClr val="000066"/>
        </a:buClr>
        <a:buSzPct val="75000"/>
        <a:buFont typeface="Wingdings" panose="05000000000000000000" pitchFamily="2" charset="2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65480" indent="-1905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>
          <a:solidFill>
            <a:schemeClr val="tx1"/>
          </a:solidFill>
          <a:latin typeface="+mn-lt"/>
        </a:defRPr>
      </a:lvl2pPr>
      <a:lvl3pPr marL="952500" indent="-1905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defRPr>
          <a:solidFill>
            <a:schemeClr val="tx1"/>
          </a:solidFill>
          <a:latin typeface="+mn-lt"/>
        </a:defRPr>
      </a:lvl3pPr>
      <a:lvl4pPr marL="1619250" indent="-1905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</a:defRPr>
      </a:lvl4pPr>
      <a:lvl5pPr marL="19050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5pPr>
      <a:lvl6pPr marL="23622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6pPr>
      <a:lvl7pPr marL="28194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7pPr>
      <a:lvl8pPr marL="32766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8pPr>
      <a:lvl9pPr marL="37338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309.04937v3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github.com/umautobots/LONER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hyperlink" Target="https://arxiv.org/pdf/2402.19044v2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https://arxiv.org/pdf/2309.1539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17"/>
          <p:cNvSpPr txBox="1">
            <a:spLocks noChangeArrowheads="1"/>
          </p:cNvSpPr>
          <p:nvPr/>
        </p:nvSpPr>
        <p:spPr bwMode="auto">
          <a:xfrm>
            <a:off x="1295400" y="4419335"/>
            <a:ext cx="6553200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 algn="ctr" eaLnBrk="0" hangingPunct="0"/>
            <a:r>
              <a:rPr lang="zh-CN" alt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</a:rPr>
              <a:t>小组成员：佘成应  王奔</a:t>
            </a:r>
            <a:endParaRPr lang="it-IT" sz="24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 Box 19"/>
          <p:cNvSpPr txBox="1">
            <a:spLocks noChangeArrowheads="1"/>
          </p:cNvSpPr>
          <p:nvPr/>
        </p:nvSpPr>
        <p:spPr bwMode="auto">
          <a:xfrm>
            <a:off x="609600" y="1246592"/>
            <a:ext cx="7924800" cy="8299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 algn="ctr" eaLnBrk="0" hangingPunct="0">
              <a:spcAft>
                <a:spcPts val="900"/>
              </a:spcAft>
            </a:pPr>
            <a:r>
              <a:rPr lang="en-US" altLang="zh-CN" sz="4800" b="1" i="0" u="none" strike="noStrike" baseline="0" dirty="0">
                <a:solidFill>
                  <a:srgbClr val="082E72"/>
                </a:solidFill>
                <a:latin typeface="黑体" panose="02010609060101010101" charset="-122"/>
                <a:ea typeface="黑体" panose="02010609060101010101" charset="-122"/>
              </a:rPr>
              <a:t>SI360 2024-Project</a:t>
            </a:r>
            <a:endParaRPr lang="en-US" altLang="zh-CN" sz="7200" b="1" dirty="0">
              <a:solidFill>
                <a:srgbClr val="CC0066"/>
              </a:solidFill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 txBox="1">
            <a:spLocks noChangeArrowheads="1"/>
          </p:cNvSpPr>
          <p:nvPr/>
        </p:nvSpPr>
        <p:spPr bwMode="auto">
          <a:xfrm>
            <a:off x="400050" y="2645418"/>
            <a:ext cx="8343900" cy="11926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ctr" anchorCtr="0" compatLnSpc="1"/>
          <a:lstStyle>
            <a:lvl1pPr algn="ct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4pPr>
            <a:lvl5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5pPr>
            <a:lvl6pPr marL="4572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6pPr>
            <a:lvl7pPr marL="9144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7pPr>
            <a:lvl8pPr marL="13716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8pPr>
            <a:lvl9pPr marL="18288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基于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LiDAR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传感器数据实现的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SLAM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算法</a:t>
            </a:r>
            <a:endParaRPr kumimoji="0" lang="en-US" altLang="nl-NL" sz="3200" b="1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31215" y="3200400"/>
            <a:ext cx="8160385" cy="5084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Isaacson S, Kung P C, 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Ramanagopal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 M, et al.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Loner: Lidar only neural representations for real-time slam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[J]. IEEE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Robotics and Automation Letters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2023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论文地址：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  <a:hlinkClick r:id="rId3"/>
              </a:rPr>
              <a:t>https://arxiv.org/pdf/2309.04937v3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开源代码：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  <a:hlinkClick r:id="rId4"/>
              </a:rPr>
              <a:t>https://github.com/umautobots/LONER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  <a:sym typeface="+mn-ea"/>
              </a:rPr>
              <a:t>基线文献选取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53ADF9-7842-60F1-20E2-0236163960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881" y="1357941"/>
            <a:ext cx="7052210" cy="13716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A657-A227-E4CB-B119-8B55BE18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CF2ED56-1EDB-D219-16AC-FAE3FCEA5E44}"/>
              </a:ext>
            </a:extLst>
          </p:cNvPr>
          <p:cNvSpPr txBox="1"/>
          <p:nvPr/>
        </p:nvSpPr>
        <p:spPr>
          <a:xfrm>
            <a:off x="491807" y="4685337"/>
            <a:ext cx="8160385" cy="40176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先来看看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LONER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的建图效果：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右上角是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Mesh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地图，红色是轨迹，其他图像是新视点合成的深度图。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LONER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在训练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NeRF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以后，可以将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NeRF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地图离线渲染为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Mesh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和深度图。</a:t>
            </a: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8DD934A-AEBE-F8DE-5341-5502A8F7F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>
            <a:extLst>
              <a:ext uri="{FF2B5EF4-FFF2-40B4-BE49-F238E27FC236}">
                <a16:creationId xmlns:a16="http://schemas.microsoft.com/office/drawing/2014/main" id="{40B449B3-46B2-C9EB-F940-C3849AEE1A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  <a:sym typeface="+mn-ea"/>
              </a:rPr>
              <a:t>效果展示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F26631D-15BF-E84C-5641-E91CD36F78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7800" y="894338"/>
            <a:ext cx="5638800" cy="370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269456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选取原因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4E26426-9F1C-ED1F-2993-A7876919D4C8}"/>
              </a:ext>
            </a:extLst>
          </p:cNvPr>
          <p:cNvSpPr txBox="1"/>
          <p:nvPr/>
        </p:nvSpPr>
        <p:spPr>
          <a:xfrm>
            <a:off x="635381" y="998833"/>
            <a:ext cx="8160385" cy="20491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1.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论文仅使用了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LIDAR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数据实现实时定位和建图，与我们本次实验目的相同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2.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论文中首次使用神经网络，利用有监督的方式训练模型来代替传统的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SLAM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算法，并在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NICE-SLAM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数据集上达到了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SOTA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D7A35D2-BC4D-5DDA-A172-28B7D186F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421" y="3048000"/>
            <a:ext cx="8415130" cy="2286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预期目标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2125" y="998855"/>
            <a:ext cx="8160385" cy="5084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1.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尝试替代论文中提出的神经网络模型中的模块，并进行训练和测试查看实际效果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2.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在上一步的基础上尝试修改或添加新的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Loss Function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，让模型达到更好的收敛效果</a:t>
            </a: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3.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尝试添加多模态，扩展原本的神经网络，加入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IMU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RGB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等数据，提升模型鲁棒性</a:t>
            </a: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807" y="762000"/>
            <a:ext cx="8160385" cy="48348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1.Skuddis D, </a:t>
            </a:r>
            <a:r>
              <a:rPr lang="en-US" altLang="zh-CN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Haala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N. DMSA--Dense Multi Scan Adjustment for LiDAR Inertial Odometry and Global Optimization[J]. </a:t>
            </a:r>
            <a:r>
              <a:rPr lang="en-US" altLang="zh-CN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preprint arXiv:2402.19044, 2024.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kumimoji="0" lang="zh-CN" altLang="en-US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论文地址：</a:t>
            </a:r>
            <a:r>
              <a:rPr kumimoji="0" lang="en-US" altLang="zh-CN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hlinkClick r:id="rId4"/>
              </a:rPr>
              <a:t>https://arxiv.org/pdf/2402.19044v2</a:t>
            </a:r>
            <a:endParaRPr kumimoji="0" lang="en-US" altLang="zh-CN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zh-CN" alt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源码地址：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https://github.com/davidskdds/DMSA_LiDAR_SLAM.git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25B58AE5-478F-F4D2-4049-1A1EC67824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600" y="2362200"/>
            <a:ext cx="4266261" cy="3866033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2F8A3-6BF3-65D9-5867-91BC8D926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>
            <a:extLst>
              <a:ext uri="{FF2B5EF4-FFF2-40B4-BE49-F238E27FC236}">
                <a16:creationId xmlns:a16="http://schemas.microsoft.com/office/drawing/2014/main" id="{E806A9CC-0892-3366-52E0-E815B1C41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>
            <a:extLst>
              <a:ext uri="{FF2B5EF4-FFF2-40B4-BE49-F238E27FC236}">
                <a16:creationId xmlns:a16="http://schemas.microsoft.com/office/drawing/2014/main" id="{2E4B4797-62D0-DEA7-033C-2C2D58FC3F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3E154A-18BD-738C-6BBB-96F8E4E28363}"/>
              </a:ext>
            </a:extLst>
          </p:cNvPr>
          <p:cNvSpPr txBox="1"/>
          <p:nvPr/>
        </p:nvSpPr>
        <p:spPr>
          <a:xfrm>
            <a:off x="491807" y="756960"/>
            <a:ext cx="8160385" cy="48348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en-US" altLang="zh-CN" dirty="0">
                <a:solidFill>
                  <a:srgbClr val="222222"/>
                </a:solidFill>
                <a:latin typeface="Arial" panose="020B0604020202020204" pitchFamily="34" charset="0"/>
              </a:rPr>
              <a:t>2.Skuddis D, </a:t>
            </a:r>
            <a:r>
              <a:rPr lang="en-US" altLang="zh-CN" dirty="0" err="1">
                <a:solidFill>
                  <a:srgbClr val="222222"/>
                </a:solidFill>
                <a:latin typeface="Arial" panose="020B0604020202020204" pitchFamily="34" charset="0"/>
              </a:rPr>
              <a:t>Haala</a:t>
            </a:r>
            <a:r>
              <a:rPr lang="en-US" altLang="zh-CN" dirty="0">
                <a:solidFill>
                  <a:srgbClr val="222222"/>
                </a:solidFill>
                <a:latin typeface="Arial" panose="020B0604020202020204" pitchFamily="34" charset="0"/>
              </a:rPr>
              <a:t> N. DMSA--Dense Multi Scan Adjustment for LiDAR         Inertial Odometry and Global Optimization[J]. </a:t>
            </a:r>
            <a:r>
              <a:rPr lang="en-US" altLang="zh-CN" dirty="0" err="1">
                <a:solidFill>
                  <a:srgbClr val="222222"/>
                </a:solidFill>
                <a:latin typeface="Arial" panose="020B0604020202020204" pitchFamily="34" charset="0"/>
              </a:rPr>
              <a:t>arXiv</a:t>
            </a:r>
            <a:r>
              <a:rPr lang="en-US" altLang="zh-CN" dirty="0">
                <a:solidFill>
                  <a:srgbClr val="222222"/>
                </a:solidFill>
                <a:latin typeface="Arial" panose="020B0604020202020204" pitchFamily="34" charset="0"/>
              </a:rPr>
              <a:t> preprint arXiv:2402.19044, 2024.</a:t>
            </a: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kumimoji="0" lang="zh-CN" altLang="en-US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论文地址：</a:t>
            </a:r>
            <a:r>
              <a:rPr kumimoji="0" lang="en-US" altLang="zh-CN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hlinkClick r:id="rId4"/>
              </a:rPr>
              <a:t>https://arxiv.org/pdf/2309.15394</a:t>
            </a:r>
            <a:endParaRPr kumimoji="0" lang="en-US" altLang="zh-CN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zh-CN" alt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源码地址：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https://github.com/RenlangHuang/KDD-LOAM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D8DD071-862D-7497-1194-ABBFCB5536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999" y="2570213"/>
            <a:ext cx="6096000" cy="16244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3C1988E-35B2-5D81-957F-77C0CA0B34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8311" y="4500617"/>
            <a:ext cx="5925377" cy="16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024306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1_Default Design">
  <a:themeElements>
    <a:clrScheme name="">
      <a:dk1>
        <a:srgbClr val="1E355E"/>
      </a:dk1>
      <a:lt1>
        <a:srgbClr val="333399"/>
      </a:lt1>
      <a:dk2>
        <a:srgbClr val="1E355E"/>
      </a:dk2>
      <a:lt2>
        <a:srgbClr val="B1C6D7"/>
      </a:lt2>
      <a:accent1>
        <a:srgbClr val="8499A5"/>
      </a:accent1>
      <a:accent2>
        <a:srgbClr val="B61E5C"/>
      </a:accent2>
      <a:accent3>
        <a:srgbClr val="ADADCA"/>
      </a:accent3>
      <a:accent4>
        <a:srgbClr val="182C4F"/>
      </a:accent4>
      <a:accent5>
        <a:srgbClr val="C2CACF"/>
      </a:accent5>
      <a:accent6>
        <a:srgbClr val="A51A53"/>
      </a:accent6>
      <a:hlink>
        <a:srgbClr val="634D94"/>
      </a:hlink>
      <a:folHlink>
        <a:srgbClr val="3A8268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bg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0" fontAlgn="base" latinLnBrk="0" hangingPunct="0">
          <a:lnSpc>
            <a:spcPct val="88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bg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0" fontAlgn="base" latinLnBrk="0" hangingPunct="0">
          <a:lnSpc>
            <a:spcPct val="88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Default Design 1">
        <a:dk1>
          <a:srgbClr val="1E355E"/>
        </a:dk1>
        <a:lt1>
          <a:srgbClr val="FFFFFF"/>
        </a:lt1>
        <a:dk2>
          <a:srgbClr val="1E355E"/>
        </a:dk2>
        <a:lt2>
          <a:srgbClr val="B1C6D7"/>
        </a:lt2>
        <a:accent1>
          <a:srgbClr val="8499A5"/>
        </a:accent1>
        <a:accent2>
          <a:srgbClr val="B61E5C"/>
        </a:accent2>
        <a:accent3>
          <a:srgbClr val="FFFFFF"/>
        </a:accent3>
        <a:accent4>
          <a:srgbClr val="182C4F"/>
        </a:accent4>
        <a:accent5>
          <a:srgbClr val="C2CACF"/>
        </a:accent5>
        <a:accent6>
          <a:srgbClr val="A51A53"/>
        </a:accent6>
        <a:hlink>
          <a:srgbClr val="634D94"/>
        </a:hlink>
        <a:folHlink>
          <a:srgbClr val="3A826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</Template>
  <TotalTime>0</TotalTime>
  <Words>707</Words>
  <Application>Microsoft Office PowerPoint</Application>
  <PresentationFormat>全屏显示(4:3)</PresentationFormat>
  <Paragraphs>40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黑体</vt:lpstr>
      <vt:lpstr>宋体</vt:lpstr>
      <vt:lpstr>Arial</vt:lpstr>
      <vt:lpstr>Calibri</vt:lpstr>
      <vt:lpstr>Consolas</vt:lpstr>
      <vt:lpstr>Times New Roman</vt:lpstr>
      <vt:lpstr>Wingdings</vt:lpstr>
      <vt:lpstr>1_Default Design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79</cp:revision>
  <dcterms:created xsi:type="dcterms:W3CDTF">2009-10-07T20:41:00Z</dcterms:created>
  <dcterms:modified xsi:type="dcterms:W3CDTF">2024-12-16T03:19:45Z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D2AEE7570922471BB61A6A2279EFCCD9_13</vt:lpwstr>
  </property>
  <property fmtid="{D5CDD505-2E9C-101B-9397-08002B2CF9AE}" pid="3" name="KSOProductBuildVer">
    <vt:lpwstr>2052-12.1.0.18912</vt:lpwstr>
  </property>
</Properties>
</file>