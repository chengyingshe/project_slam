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500" r:id="rId3"/>
    <p:sldId id="839" r:id="rId5"/>
    <p:sldId id="842" r:id="rId6"/>
    <p:sldId id="843" r:id="rId7"/>
    <p:sldId id="844" r:id="rId8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A4A3A4"/>
          </p15:clr>
        </p15:guide>
        <p15:guide id="2" pos="28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52" autoAdjust="0"/>
    <p:restoredTop sz="94990" autoAdjust="0"/>
  </p:normalViewPr>
  <p:slideViewPr>
    <p:cSldViewPr showGuides="1">
      <p:cViewPr varScale="1">
        <p:scale>
          <a:sx n="79" d="100"/>
          <a:sy n="79" d="100"/>
        </p:scale>
        <p:origin x="528" y="84"/>
      </p:cViewPr>
      <p:guideLst>
        <p:guide orient="horz" pos="554"/>
        <p:guide pos="28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4"/>
    </p:cViewPr>
  </p:sorterViewPr>
  <p:notesViewPr>
    <p:cSldViewPr>
      <p:cViewPr>
        <p:scale>
          <a:sx n="150" d="100"/>
          <a:sy n="150" d="100"/>
        </p:scale>
        <p:origin x="-72" y="2484"/>
      </p:cViewPr>
      <p:guideLst>
        <p:guide orient="horz" pos="2924"/>
        <p:guide pos="215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3988" y="0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3B64D1-AAD5-A140-80D0-6BB9E0483844}" type="datetimeFigureOut">
              <a:rPr lang="it-IT"/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8563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3988" y="8818563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3847EC-CB7F-7D45-8DD9-6177710C3A82}" type="slidenum">
              <a:rPr lang="it-IT"/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3988" y="0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16B90E-A14D-8B4B-A113-4F8128E40D0E}" type="datetimeFigureOut">
              <a:rPr lang="it-IT"/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38675" cy="3479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26" tIns="46513" rIns="93026" bIns="46513" rtlCol="0" anchor="ctr"/>
          <a:lstStyle/>
          <a:p>
            <a:pPr lvl="0"/>
            <a:endParaRPr lang="it-IT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vert="horz" lIns="93026" tIns="46513" rIns="93026" bIns="4651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it-IT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8563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3988" y="8818563"/>
            <a:ext cx="3032125" cy="463550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2BFB311-CEB4-4042-9D98-99481829B1DD}" type="slidenum">
              <a:rPr lang="it-IT"/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DD7B-2EBD-466F-B277-0EDC35A7E7C2}" type="slidenum">
              <a:rPr lang="it-IT" smtClean="0"/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71600" y="1096963"/>
            <a:ext cx="7313613" cy="1447800"/>
          </a:xfrm>
        </p:spPr>
        <p:txBody>
          <a:bodyPr/>
          <a:lstStyle>
            <a:lvl1pPr algn="ctr">
              <a:defRPr sz="4400"/>
            </a:lvl1pPr>
          </a:lstStyle>
          <a:p>
            <a:pPr lvl="0"/>
            <a:r>
              <a:rPr lang="en-US" altLang="nl-NL" noProof="0"/>
              <a:t>CLICK TO EDIT MASTER TITLE STYLE</a:t>
            </a:r>
            <a:endParaRPr lang="en-US" altLang="nl-NL" noProof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001963"/>
            <a:ext cx="7313613" cy="2246312"/>
          </a:xfrm>
        </p:spPr>
        <p:txBody>
          <a:bodyPr/>
          <a:lstStyle>
            <a:lvl1pPr algn="ctr">
              <a:defRPr sz="2800"/>
            </a:lvl1pPr>
          </a:lstStyle>
          <a:p>
            <a:pPr lvl="0"/>
            <a:r>
              <a:rPr lang="en-US" altLang="nl-NL" noProof="0"/>
              <a:t>Click to edit Master subtitle style</a:t>
            </a:r>
            <a:endParaRPr lang="en-US" altLang="nl-NL" noProof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685800" y="6324600"/>
            <a:ext cx="8197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450" y="1082675"/>
            <a:ext cx="7696200" cy="536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07400" y="6446838"/>
            <a:ext cx="596900" cy="238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fld id="{5F0B40E5-884E-BF48-9629-A11F7F8AF00B}" type="slidenum">
              <a:rPr lang="en-US" altLang="en-US"/>
            </a:fld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984500" y="6375400"/>
            <a:ext cx="3124200" cy="381000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s-ES"/>
              <a:t>Prof. Yajun Ha 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ftr" sz="quarter" idx="10"/>
          </p:nvPr>
        </p:nvSpPr>
        <p:spPr>
          <a:xfrm>
            <a:off x="941388" y="6619875"/>
            <a:ext cx="1406525" cy="238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Prof. Yajun Ha </a:t>
            </a:r>
            <a:endParaRPr lang="en-US" altLang="zh-CN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21700" y="6592888"/>
            <a:ext cx="596900" cy="238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DA6500B-5CE5-5047-8139-CAA7BAF190F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7"/>
          <p:cNvSpPr>
            <a:spLocks noChangeShapeType="1"/>
          </p:cNvSpPr>
          <p:nvPr userDrawn="1"/>
        </p:nvSpPr>
        <p:spPr bwMode="auto">
          <a:xfrm>
            <a:off x="685800" y="6324600"/>
            <a:ext cx="8197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6025" y="1216025"/>
            <a:ext cx="3771900" cy="5365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0325" y="1216025"/>
            <a:ext cx="3771900" cy="5365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2933700" y="6477000"/>
            <a:ext cx="3124200" cy="381000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s-ES"/>
              <a:t>Prof. Yajun Ha 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ftr" sz="quarter" idx="10"/>
          </p:nvPr>
        </p:nvSpPr>
        <p:spPr>
          <a:xfrm>
            <a:off x="941388" y="6619875"/>
            <a:ext cx="1406525" cy="238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Prof. Yajun Ha </a:t>
            </a:r>
            <a:endParaRPr lang="en-US" altLang="zh-CN"/>
          </a:p>
        </p:txBody>
      </p:sp>
      <p:sp>
        <p:nvSpPr>
          <p:cNvPr id="8" name="Rectangle 7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21700" y="6592888"/>
            <a:ext cx="596900" cy="238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32626E3-4749-494A-BA26-49E5DEB7E2D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Line 7"/>
          <p:cNvSpPr>
            <a:spLocks noChangeShapeType="1"/>
          </p:cNvSpPr>
          <p:nvPr userDrawn="1"/>
        </p:nvSpPr>
        <p:spPr bwMode="auto">
          <a:xfrm>
            <a:off x="685800" y="6324600"/>
            <a:ext cx="8197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191500" y="6446838"/>
            <a:ext cx="596900" cy="238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fld id="{4661D78A-AC99-F64E-8C3B-B09E26F47AC3}" type="slidenum">
              <a:rPr lang="en-US" altLang="en-US"/>
            </a:fld>
            <a:endParaRPr lang="en-US" alt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55950" y="6375400"/>
            <a:ext cx="3124200" cy="381000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s-ES"/>
              <a:t>Prof. Yajun Ha 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0" y="273050"/>
            <a:ext cx="63627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0"/>
          </p:nvPr>
        </p:nvSpPr>
        <p:spPr>
          <a:xfrm>
            <a:off x="941388" y="6619875"/>
            <a:ext cx="1406525" cy="238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Prof. Yajun Ha </a:t>
            </a:r>
            <a:endParaRPr lang="en-US" altLang="zh-CN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21700" y="6592888"/>
            <a:ext cx="596900" cy="238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95213C-5836-5243-9486-143DB37A8F4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429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429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6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/>
          <a:lstStyle/>
          <a:p>
            <a:pPr lvl="0"/>
            <a:r>
              <a:rPr lang="en-US" altLang="nl-NL"/>
              <a:t>Slide Title</a:t>
            </a:r>
            <a:endParaRPr lang="en-US" altLang="nl-NL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6025" y="1216025"/>
            <a:ext cx="7696200" cy="536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nl-NL"/>
              <a:t>First level</a:t>
            </a:r>
            <a:endParaRPr lang="en-US" altLang="nl-NL"/>
          </a:p>
          <a:p>
            <a:pPr lvl="1"/>
            <a:r>
              <a:rPr lang="en-US" altLang="nl-NL"/>
              <a:t>Second level</a:t>
            </a:r>
            <a:endParaRPr lang="en-US" altLang="nl-NL"/>
          </a:p>
          <a:p>
            <a:pPr lvl="2"/>
            <a:r>
              <a:rPr lang="en-US" altLang="nl-NL"/>
              <a:t>Third Level</a:t>
            </a:r>
            <a:endParaRPr lang="en-US" altLang="nl-NL"/>
          </a:p>
          <a:p>
            <a:pPr lvl="3"/>
            <a:r>
              <a:rPr lang="en-US" altLang="nl-NL"/>
              <a:t>Fourth Level</a:t>
            </a:r>
            <a:endParaRPr lang="en-US" altLang="nl-NL"/>
          </a:p>
          <a:p>
            <a:pPr lvl="4"/>
            <a:r>
              <a:rPr lang="en-US" altLang="nl-NL"/>
              <a:t>Fifth Level</a:t>
            </a:r>
            <a:endParaRPr lang="en-US" altLang="nl-NL"/>
          </a:p>
        </p:txBody>
      </p:sp>
      <p:sp>
        <p:nvSpPr>
          <p:cNvPr id="1031" name="Rectangle 41"/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SG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dt="0"/>
  <p:txStyles>
    <p:titleStyle>
      <a:lvl1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Clr>
          <a:srgbClr val="000066"/>
        </a:buClr>
        <a:buSzPct val="75000"/>
        <a:buFont typeface="Wingdings" panose="05000000000000000000" pitchFamily="2" charset="2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5480" indent="-1905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>
          <a:solidFill>
            <a:schemeClr val="tx1"/>
          </a:solidFill>
          <a:latin typeface="+mn-lt"/>
        </a:defRPr>
      </a:lvl2pPr>
      <a:lvl3pPr marL="952500" indent="-1905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defRPr>
          <a:solidFill>
            <a:schemeClr val="tx1"/>
          </a:solidFill>
          <a:latin typeface="+mn-lt"/>
        </a:defRPr>
      </a:lvl3pPr>
      <a:lvl4pPr marL="1619250" indent="-1905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1400">
          <a:solidFill>
            <a:schemeClr val="tx1"/>
          </a:solidFill>
          <a:latin typeface="+mn-lt"/>
        </a:defRPr>
      </a:lvl4pPr>
      <a:lvl5pPr marL="19050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5pPr>
      <a:lvl6pPr marL="23622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6pPr>
      <a:lvl7pPr marL="28194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7pPr>
      <a:lvl8pPr marL="32766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8pPr>
      <a:lvl9pPr marL="37338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1295400" y="4419335"/>
            <a:ext cx="65532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小组成员：佘成应  王奔</a:t>
            </a:r>
            <a:endParaRPr lang="it-IT" sz="2400" b="1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609600" y="1246592"/>
            <a:ext cx="792480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Aft>
                <a:spcPts val="900"/>
              </a:spcAft>
            </a:pPr>
            <a:r>
              <a:rPr lang="en-US" altLang="zh-CN" sz="4800" b="1" i="0" u="none" strike="noStrike" baseline="0" dirty="0">
                <a:solidFill>
                  <a:srgbClr val="082E72"/>
                </a:solidFill>
                <a:latin typeface="黑体" panose="02010609060101010101" charset="-122"/>
                <a:ea typeface="黑体" panose="02010609060101010101" charset="-122"/>
              </a:rPr>
              <a:t>SI360 2024-Project</a:t>
            </a:r>
            <a:endParaRPr lang="en-US" altLang="zh-CN" sz="7200" b="1" dirty="0">
              <a:solidFill>
                <a:srgbClr val="CC0066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400050" y="2645418"/>
            <a:ext cx="8343900" cy="1192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/>
          <a:lstStyle>
            <a:lvl1pPr algn="ct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基于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LiDAR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传感器数据实现的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SLAM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算法</a:t>
            </a:r>
            <a:endParaRPr kumimoji="0" lang="en-US" altLang="nl-NL" sz="32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2125" y="998855"/>
            <a:ext cx="8160385" cy="5084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baseline="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在无人驾驶和机器人导航领域，精准的地图构建和实时的定位技术至关重要，我们小组打算基于</a:t>
            </a: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开源项目</a:t>
            </a:r>
            <a:r>
              <a:rPr kumimoji="0" lang="en-US" altLang="zh-CN" sz="2000" b="0" i="0" baseline="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lidarslam_ros2</a:t>
            </a:r>
            <a:r>
              <a:rPr kumimoji="0" lang="zh-CN" altLang="en-US" sz="2000" b="0" i="0" baseline="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的基础上进行复现，并在自己的能力范围内进行适当创新。</a:t>
            </a:r>
            <a:endParaRPr kumimoji="0" lang="en-US" altLang="zh-CN" sz="2000" b="0" i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zh-CN" altLang="en-US" sz="2000" dirty="0"/>
              <a:t>该开源项目利用高效的扫描匹配算法（</a:t>
            </a:r>
            <a:r>
              <a:rPr lang="en-US" altLang="zh-CN" sz="2000" dirty="0"/>
              <a:t>GICP</a:t>
            </a:r>
            <a:r>
              <a:rPr lang="zh-CN" altLang="en-US" sz="2000" dirty="0"/>
              <a:t>），在四核</a:t>
            </a:r>
            <a:r>
              <a:rPr lang="en-US" altLang="zh-CN" sz="2000" dirty="0"/>
              <a:t>CPU</a:t>
            </a:r>
            <a:r>
              <a:rPr lang="zh-CN" altLang="en-US" sz="2000" dirty="0"/>
              <a:t>及</a:t>
            </a:r>
            <a:r>
              <a:rPr lang="en-US" altLang="zh-CN" sz="2000" dirty="0"/>
              <a:t>16GB</a:t>
            </a:r>
            <a:r>
              <a:rPr lang="zh-CN" altLang="en-US" sz="2000" dirty="0"/>
              <a:t>内存下即可处理户外环境中的大型数据集，涉及到的传感器仅</a:t>
            </a:r>
            <a:r>
              <a:rPr lang="en-US" altLang="zh-CN" sz="2000" dirty="0"/>
              <a:t>16</a:t>
            </a:r>
            <a:r>
              <a:rPr lang="zh-CN" altLang="en-US" sz="2000" dirty="0"/>
              <a:t>线激光雷达。项目提供的前端能够进行实时的点云配准，而后端则采用图形化</a:t>
            </a:r>
            <a:r>
              <a:rPr lang="en-US" altLang="zh-CN" sz="2000" dirty="0"/>
              <a:t>SLAM</a:t>
            </a:r>
            <a:r>
              <a:rPr lang="zh-CN" altLang="en-US" sz="2000" dirty="0"/>
              <a:t>方法实现路径优化和闭环检测，确保地图质量和轨迹稳定性。</a:t>
            </a:r>
            <a:endParaRPr lang="en-US" altLang="zh-CN" sz="2000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SLAM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算法相关参考文献：</a:t>
            </a: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LT-Mapper: A Modular Framework for LiDAR-Based Lifelong Mapping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CT-ICP: Real-Time Elastic LiDAR Odometry with Loop Closure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DSP-SLAM: Object Oriented SLAM with Deep Shape Priors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154686" y="163840"/>
            <a:ext cx="861060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eaLnBrk="0" hangingPunct="0">
              <a:spcAft>
                <a:spcPts val="900"/>
              </a:spcAft>
            </a:pP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调研工作</a:t>
            </a:r>
            <a:endParaRPr lang="en-US" altLang="zh-CN" sz="2000" dirty="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2125" y="998855"/>
            <a:ext cx="8160385" cy="5084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en-US" altLang="zh-CN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OpenMP-Boosted GICP/NDT</a:t>
            </a: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扫描匹配： 利用</a:t>
            </a:r>
            <a:r>
              <a:rPr lang="en-US" altLang="zh-CN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OpenMP</a:t>
            </a: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并行计算技术，极大地提高了扫描匹配的速度，无论是全局迭代 </a:t>
            </a:r>
            <a:r>
              <a:rPr lang="en-US" altLang="zh-CN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closest-point </a:t>
            </a: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方法（</a:t>
            </a:r>
            <a:r>
              <a:rPr lang="en-US" altLang="zh-CN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GICP</a:t>
            </a: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）还是归一化距离变换方法（</a:t>
            </a:r>
            <a:r>
              <a:rPr lang="en-US" altLang="zh-CN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NDT</a:t>
            </a: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），都能快速准确地完成点云配准。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图形化</a:t>
            </a:r>
            <a:r>
              <a:rPr lang="en-US" altLang="zh-CN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SLAM</a:t>
            </a: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后端： 基于图优化的后端，通过对传感器测量的几何关系和时间关系进行优化，实现对机器人运动轨迹的修正，并有效处理环闭合问题，提高定位精度。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154686" y="163840"/>
            <a:ext cx="8610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Aft>
                <a:spcPts val="900"/>
              </a:spcAft>
            </a:pP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技术路线</a:t>
            </a:r>
            <a:endParaRPr lang="en-US" altLang="zh-CN" sz="2000" dirty="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429000"/>
            <a:ext cx="2995930" cy="25787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429635"/>
            <a:ext cx="3154680" cy="25781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154686" y="163840"/>
            <a:ext cx="8610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Aft>
                <a:spcPts val="900"/>
              </a:spcAft>
            </a:pP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小组分工</a:t>
            </a:r>
            <a:endParaRPr lang="en-US" altLang="zh-CN" sz="2000" dirty="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2125" y="998855"/>
            <a:ext cx="8160385" cy="5084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佘成应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完成</a:t>
            </a:r>
            <a:r>
              <a:rPr lang="en-US" altLang="zh-CN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80%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代码层面工作以及</a:t>
            </a:r>
            <a:r>
              <a:rPr lang="en-US" altLang="zh-CN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20%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的报告撰写工作</a:t>
            </a:r>
            <a:endParaRPr lang="en-US" altLang="zh-CN" sz="2000" dirty="0">
              <a:solidFill>
                <a:srgbClr val="1E355E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endParaRPr lang="zh-CN" altLang="en-US" sz="200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王奔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完成</a:t>
            </a:r>
            <a:r>
              <a:rPr lang="en-US" altLang="zh-CN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20%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代码层面工作以及</a:t>
            </a:r>
            <a:r>
              <a:rPr lang="en-US" altLang="zh-CN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80%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的报告撰写工作</a:t>
            </a:r>
            <a:endParaRPr lang="en-US" altLang="zh-CN" sz="2000" dirty="0">
              <a:solidFill>
                <a:srgbClr val="1E355E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/>
            </a:pPr>
            <a:endParaRPr lang="en-US" altLang="zh-CN" sz="2000" dirty="0">
              <a:solidFill>
                <a:srgbClr val="1E355E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/>
            </a:pP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课程项目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预期</a:t>
            </a:r>
            <a:endParaRPr lang="zh-CN" altLang="en-US" sz="2000" dirty="0">
              <a:solidFill>
                <a:srgbClr val="1E355E"/>
              </a:solidFill>
              <a:latin typeface="Arial" panose="020B0604020202020204" pitchFamily="34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在开源项目的基础上，运行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提供的数据集</a:t>
            </a:r>
            <a:endParaRPr lang="zh-CN" altLang="en-US" sz="2000" dirty="0">
              <a:solidFill>
                <a:srgbClr val="1E355E"/>
              </a:solidFill>
              <a:latin typeface="Arial" panose="020B0604020202020204" pitchFamily="34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小组成员共同研读相关论文，寻找创新点并在能力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范围内实现创新性突破</a:t>
            </a:r>
            <a:endParaRPr lang="en-US" altLang="zh-CN" sz="2000" dirty="0">
              <a:solidFill>
                <a:srgbClr val="1E355E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" y="6083278"/>
            <a:ext cx="2286000" cy="6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9"/>
          <p:cNvSpPr txBox="1">
            <a:spLocks noChangeArrowheads="1"/>
          </p:cNvSpPr>
          <p:nvPr/>
        </p:nvSpPr>
        <p:spPr bwMode="auto">
          <a:xfrm>
            <a:off x="154686" y="163840"/>
            <a:ext cx="8610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Aft>
                <a:spcPts val="900"/>
              </a:spcAft>
            </a:pPr>
            <a:r>
              <a:rPr lang="zh-CN" altLang="en-US" sz="3200" b="1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进度安排</a:t>
            </a:r>
            <a:endParaRPr lang="en-US" altLang="zh-CN" sz="2000" dirty="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2125" y="998855"/>
            <a:ext cx="8160385" cy="4834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开题答辩后</a:t>
            </a:r>
            <a:r>
              <a:rPr lang="en-US" altLang="zh-CN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1-2</a:t>
            </a: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周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：完成开源项目在提供的数据集上的复现相关工作</a:t>
            </a:r>
            <a:endParaRPr lang="en-US" altLang="zh-CN" sz="2000" dirty="0">
              <a:solidFill>
                <a:srgbClr val="1E355E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开题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答辩后</a:t>
            </a:r>
            <a:r>
              <a:rPr lang="en-US" altLang="zh-CN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2-3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周：研读相关论文，寻找创新点</a:t>
            </a:r>
            <a:endParaRPr lang="en-US" altLang="zh-CN" sz="2000" dirty="0">
              <a:solidFill>
                <a:srgbClr val="1E355E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开题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答辩后</a:t>
            </a:r>
            <a:r>
              <a:rPr lang="en-US" altLang="zh-CN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3-4</a:t>
            </a:r>
            <a:r>
              <a:rPr lang="zh-CN" altLang="en-US" sz="2000" dirty="0">
                <a:solidFill>
                  <a:srgbClr val="1E355E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周：完成课程报告等相关收尾工作</a:t>
            </a:r>
            <a:endParaRPr lang="en-US" altLang="zh-CN" sz="2000" dirty="0">
              <a:solidFill>
                <a:srgbClr val="1E355E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E355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">
      <a:dk1>
        <a:srgbClr val="1E355E"/>
      </a:dk1>
      <a:lt1>
        <a:srgbClr val="333399"/>
      </a:lt1>
      <a:dk2>
        <a:srgbClr val="1E355E"/>
      </a:dk2>
      <a:lt2>
        <a:srgbClr val="B1C6D7"/>
      </a:lt2>
      <a:accent1>
        <a:srgbClr val="8499A5"/>
      </a:accent1>
      <a:accent2>
        <a:srgbClr val="B61E5C"/>
      </a:accent2>
      <a:accent3>
        <a:srgbClr val="ADADCA"/>
      </a:accent3>
      <a:accent4>
        <a:srgbClr val="182C4F"/>
      </a:accent4>
      <a:accent5>
        <a:srgbClr val="C2CACF"/>
      </a:accent5>
      <a:accent6>
        <a:srgbClr val="A51A53"/>
      </a:accent6>
      <a:hlink>
        <a:srgbClr val="634D94"/>
      </a:hlink>
      <a:folHlink>
        <a:srgbClr val="3A8268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bg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88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bg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88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1E355E"/>
        </a:dk1>
        <a:lt1>
          <a:srgbClr val="FFFFFF"/>
        </a:lt1>
        <a:dk2>
          <a:srgbClr val="1E355E"/>
        </a:dk2>
        <a:lt2>
          <a:srgbClr val="B1C6D7"/>
        </a:lt2>
        <a:accent1>
          <a:srgbClr val="8499A5"/>
        </a:accent1>
        <a:accent2>
          <a:srgbClr val="B61E5C"/>
        </a:accent2>
        <a:accent3>
          <a:srgbClr val="FFFFFF"/>
        </a:accent3>
        <a:accent4>
          <a:srgbClr val="182C4F"/>
        </a:accent4>
        <a:accent5>
          <a:srgbClr val="C2CACF"/>
        </a:accent5>
        <a:accent6>
          <a:srgbClr val="A51A53"/>
        </a:accent6>
        <a:hlink>
          <a:srgbClr val="634D94"/>
        </a:hlink>
        <a:folHlink>
          <a:srgbClr val="3A82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</Template>
  <TotalTime>0</TotalTime>
  <Words>845</Words>
  <Application>WPS 演示</Application>
  <PresentationFormat>全屏显示(4:3)</PresentationFormat>
  <Paragraphs>40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MicrosoftYaHei-Bold</vt:lpstr>
      <vt:lpstr>Segoe Print</vt:lpstr>
      <vt:lpstr>Arial-BoldMT</vt:lpstr>
      <vt:lpstr>Arial</vt:lpstr>
      <vt:lpstr>微软雅黑</vt:lpstr>
      <vt:lpstr>Arial Unicode MS</vt:lpstr>
      <vt:lpstr>Calibri</vt:lpstr>
      <vt:lpstr>仿宋</vt:lpstr>
      <vt:lpstr>华文楷体</vt:lpstr>
      <vt:lpstr>华文琥珀</vt:lpstr>
      <vt:lpstr>华文行楷</vt:lpstr>
      <vt:lpstr>微软雅黑 Light</vt:lpstr>
      <vt:lpstr>新宋体</vt:lpstr>
      <vt:lpstr>方正姚体</vt:lpstr>
      <vt:lpstr>幼圆</vt:lpstr>
      <vt:lpstr>黑体</vt:lpstr>
      <vt:lpstr>华文细黑</vt:lpstr>
      <vt:lpstr>1_Default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丨捣蛋灬至尊丿</cp:lastModifiedBy>
  <cp:revision>79</cp:revision>
  <dcterms:created xsi:type="dcterms:W3CDTF">2009-10-07T20:41:00Z</dcterms:created>
  <dcterms:modified xsi:type="dcterms:W3CDTF">2024-11-27T14:36:06Z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D2AEE7570922471BB61A6A2279EFCCD9_13</vt:lpwstr>
  </property>
  <property fmtid="{D5CDD505-2E9C-101B-9397-08002B2CF9AE}" pid="3" name="KSOProductBuildVer">
    <vt:lpwstr>2052-12.1.0.18912</vt:lpwstr>
  </property>
</Properties>
</file>